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ERP</c:v>
                </c:pt>
              </c:strCache>
            </c:strRef>
          </c:tx>
          <c:spPr>
            <a:solidFill>
              <a:srgbClr val="2B7A78"/>
            </a:solidFill>
            <a:effectLst/>
          </c:spPr>
          <c:invertIfNegative val="0"/>
          <c:dLbls>
            <c:numFmt formatCode="0.0" sourceLinked="0"/>
            <c:txPr>
              <a:bodyPr/>
              <a:lstStyle/>
              <a:p>
                <a:pPr>
                  <a:defRPr b="0" i="0" strike="noStrike" sz="800" u="none">
                    <a:solidFill>
                      <a:srgbClr val="17202B"/>
                    </a:solidFill>
                    <a:latin typeface="Segoe UI"/>
                  </a:defRPr>
                </a:pPr>
              </a:p>
            </c:txPr>
            <c:showLegendKey val="0"/>
            <c:showVal val="1"/>
            <c:showCatName val="0"/>
            <c:showSerName val="0"/>
            <c:showPercent val="0"/>
            <c:showBubbleSize val="0"/>
            <c:showLeaderLines val="0"/>
          </c:dLbls>
          <c:dPt>
            <c:idx val="0"/>
            <c:invertIfNegative val="0"/>
            <c:bubble3D val="0"/>
            <c:spPr>
              <a:solidFill>
                <a:srgbClr val="2B7A78"/>
              </a:solidFill>
              <a:effectLst/>
            </c:spPr>
          </c:dPt>
          <c:dPt>
            <c:idx val="1"/>
            <c:invertIfNegative val="0"/>
            <c:bubble3D val="0"/>
            <c:spPr>
              <a:solidFill>
                <a:srgbClr val="2B7A78"/>
              </a:solidFill>
              <a:effectLst/>
            </c:spPr>
          </c:dPt>
          <c:dPt>
            <c:idx val="2"/>
            <c:invertIfNegative val="0"/>
            <c:bubble3D val="0"/>
            <c:spPr>
              <a:solidFill>
                <a:srgbClr val="2B7A78"/>
              </a:solidFill>
              <a:effectLst/>
            </c:spPr>
          </c:dPt>
          <c:dPt>
            <c:idx val="3"/>
            <c:invertIfNegative val="0"/>
            <c:bubble3D val="0"/>
            <c:spPr>
              <a:solidFill>
                <a:srgbClr val="2B7A78"/>
              </a:solidFill>
              <a:effectLst/>
            </c:spPr>
          </c:dPt>
          <c:dPt>
            <c:idx val="4"/>
            <c:invertIfNegative val="0"/>
            <c:bubble3D val="0"/>
            <c:spPr>
              <a:solidFill>
                <a:srgbClr val="9AA6B2"/>
              </a:solidFill>
              <a:effectLst/>
            </c:spPr>
          </c:dPt>
          <c:dPt>
            <c:idx val="5"/>
            <c:invertIfNegative val="0"/>
            <c:bubble3D val="0"/>
            <c:spPr>
              <a:solidFill>
                <a:srgbClr val="9AA6B2"/>
              </a:solidFill>
              <a:effectLst/>
            </c:spPr>
          </c:dPt>
          <c:dPt>
            <c:idx val="6"/>
            <c:invertIfNegative val="0"/>
            <c:bubble3D val="0"/>
            <c:spPr>
              <a:solidFill>
                <a:srgbClr val="9AA6B2"/>
              </a:solidFill>
              <a:effectLst/>
            </c:spPr>
          </c:dPt>
          <c:dPt>
            <c:idx val="7"/>
            <c:invertIfNegative val="0"/>
            <c:bubble3D val="0"/>
            <c:spPr>
              <a:solidFill>
                <a:srgbClr val="9AA6B2"/>
              </a:solidFill>
              <a:effectLst/>
            </c:spPr>
          </c:dPt>
          <c:dPt>
            <c:idx val="8"/>
            <c:invertIfNegative val="0"/>
            <c:bubble3D val="0"/>
            <c:spPr>
              <a:solidFill>
                <a:srgbClr val="9AA6B2"/>
              </a:solidFill>
              <a:effectLst/>
            </c:spPr>
          </c:dPt>
          <c:dPt>
            <c:idx val="9"/>
            <c:invertIfNegative val="0"/>
            <c:bubble3D val="0"/>
            <c:spPr>
              <a:solidFill>
                <a:srgbClr val="9AA6B2"/>
              </a:solidFill>
              <a:effectLst/>
            </c:spPr>
          </c:dPt>
          <c:dPt>
            <c:idx val="10"/>
            <c:invertIfNegative val="0"/>
            <c:bubble3D val="0"/>
            <c:spPr>
              <a:solidFill>
                <a:srgbClr val="E8692C"/>
              </a:solidFill>
              <a:effectLst/>
            </c:spPr>
          </c:dPt>
          <c:dPt>
            <c:idx val="11"/>
            <c:invertIfNegative val="0"/>
            <c:bubble3D val="0"/>
            <c:spPr>
              <a:solidFill>
                <a:srgbClr val="9AA6B2"/>
              </a:solidFill>
              <a:effectLst/>
            </c:spPr>
          </c:dPt>
          <c:cat>
            <c:multiLvlStrRef>
              <c:f>Sheet1!$A$2:$A$13</c:f>
              <c:multiLvlStrCache>
                <c:ptCount val="12"/>
                <c:lvl>
                  <c:pt idx="0">
                    <c:v>Germany</c:v>
                  </c:pt>
                  <c:pt idx="1">
                    <c:v>United States</c:v>
                  </c:pt>
                  <c:pt idx="2">
                    <c:v>United Kingdom</c:v>
                  </c:pt>
                  <c:pt idx="3">
                    <c:v>Japan</c:v>
                  </c:pt>
                  <c:pt idx="4">
                    <c:v>China</c:v>
                  </c:pt>
                  <c:pt idx="5">
                    <c:v>Poland</c:v>
                  </c:pt>
                  <c:pt idx="6">
                    <c:v>Mexico</c:v>
                  </c:pt>
                  <c:pt idx="7">
                    <c:v>India</c:v>
                  </c:pt>
                  <c:pt idx="8">
                    <c:v>Brazil</c:v>
                  </c:pt>
                  <c:pt idx="9">
                    <c:v>South Africa</c:v>
                  </c:pt>
                  <c:pt idx="10">
                    <c:v>Türkiye</c:v>
                  </c:pt>
                  <c:pt idx="11">
                    <c:v>Argentina</c:v>
                  </c:pt>
                </c:lvl>
              </c:multiLvlStrCache>
            </c:multiLvlStrRef>
          </c:cat>
          <c:val>
            <c:numRef>
              <c:f>Sheet1!$B$2:$B$13</c:f>
              <c:numCache>
                <c:formatCode>General</c:formatCode>
                <c:ptCount val="12"/>
                <c:pt idx="0">
                  <c:v>4.23</c:v>
                </c:pt>
                <c:pt idx="1">
                  <c:v>4.46</c:v>
                </c:pt>
                <c:pt idx="2">
                  <c:v>5.01</c:v>
                </c:pt>
                <c:pt idx="3">
                  <c:v>5.14</c:v>
                </c:pt>
                <c:pt idx="4">
                  <c:v>5.14</c:v>
                </c:pt>
                <c:pt idx="5">
                  <c:v>5.33</c:v>
                </c:pt>
                <c:pt idx="6">
                  <c:v>6.69</c:v>
                </c:pt>
                <c:pt idx="7">
                  <c:v>7.08</c:v>
                </c:pt>
                <c:pt idx="8">
                  <c:v>7.47</c:v>
                </c:pt>
                <c:pt idx="9">
                  <c:v>8.13</c:v>
                </c:pt>
                <c:pt idx="10">
                  <c:v>8.89</c:v>
                </c:pt>
                <c:pt idx="11">
                  <c:v>13.94</c:v>
                </c:pt>
              </c:numCache>
            </c:numRef>
          </c:val>
        </c:ser>
        <c:dLbls>
          <c:numFmt formatCode="0.0" sourceLinked="0"/>
          <c:txPr>
            <a:bodyPr/>
            <a:lstStyle/>
            <a:p>
              <a:pPr>
                <a:defRPr b="0" i="0" strike="noStrike" sz="800" u="none">
                  <a:solidFill>
                    <a:srgbClr val="17202B"/>
                  </a:solidFill>
                  <a:latin typeface="Segoe U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700" b="0" i="0" u="none" strike="noStrike">
                <a:solidFill>
                  <a:srgbClr val="4A5A6B"/>
                </a:solidFill>
                <a:latin typeface="Segoe U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794"/>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1H26 revenue</c:v>
                </c:pt>
              </c:strCache>
            </c:strRef>
          </c:tx>
          <c:spPr>
            <a:solidFill>
              <a:schemeClr val="accent1"/>
            </a:solidFill>
            <a:ln w="9525" cap="flat">
              <a:solidFill>
                <a:srgbClr val="F9F9F9"/>
              </a:solidFill>
              <a:prstDash val="solid"/>
              <a:round/>
            </a:ln>
            <a:effectLst/>
          </c:spPr>
          <c:dPt>
            <c:idx val="0"/>
            <c:bubble3D val="0"/>
            <c:spPr>
              <a:solidFill>
                <a:srgbClr val="E8692C"/>
              </a:solidFill>
              <a:effectLst/>
            </c:spPr>
          </c:dPt>
          <c:dPt>
            <c:idx val="1"/>
            <c:bubble3D val="0"/>
            <c:spPr>
              <a:solidFill>
                <a:srgbClr val="2B7A78"/>
              </a:solidFill>
              <a:effectLst/>
            </c:spPr>
          </c:dPt>
          <c:dPt>
            <c:idx val="2"/>
            <c:bubble3D val="0"/>
            <c:spPr>
              <a:solidFill>
                <a:srgbClr val="4A5A6B"/>
              </a:solidFill>
              <a:effectLst/>
            </c:spPr>
          </c:dPt>
          <c:dPt>
            <c:idx val="3"/>
            <c:bubble3D val="0"/>
            <c:spPr>
              <a:solidFill>
                <a:srgbClr val="9AA6B2"/>
              </a:solidFill>
              <a:effectLst/>
            </c:spPr>
          </c:dPt>
          <c:dLbls>
            <c:dLbl>
              <c:idx val="0"/>
              <c:numFmt formatCode="0%" sourceLinked="0"/>
              <c:spPr/>
              <c:txPr>
                <a:bodyPr/>
                <a:lstStyle/>
                <a:p>
                  <a:pPr>
                    <a:defRPr sz="900" b="0" i="0" u="none" strike="noStrike">
                      <a:solidFill>
                        <a:srgbClr val="FFFFFF"/>
                      </a:solidFill>
                      <a:latin typeface="Segoe UI"/>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Segoe UI"/>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Segoe UI"/>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Segoe U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Infrastructure &amp; Project</c:v>
                </c:pt>
                <c:pt idx="1">
                  <c:v>Energy</c:v>
                </c:pt>
                <c:pt idx="2">
                  <c:v>Industry &amp; Construction</c:v>
                </c:pt>
                <c:pt idx="3">
                  <c:v>Automotive</c:v>
                </c:pt>
              </c:strCache>
            </c:strRef>
          </c:cat>
          <c:val>
            <c:numRef>
              <c:f>Sheet1!$B$2:$B$5</c:f>
              <c:numCache>
                <c:ptCount val="4"/>
                <c:pt idx="0">
                  <c:v>520</c:v>
                </c:pt>
                <c:pt idx="1">
                  <c:v>198</c:v>
                </c:pt>
                <c:pt idx="2">
                  <c:v>157</c:v>
                </c:pt>
                <c:pt idx="3">
                  <c:v>102</c:v>
                </c:pt>
              </c:numCache>
            </c:numRef>
          </c:val>
        </c:ser>
        <c:firstSliceAng val="0"/>
        <c:holeSize val="55"/>
      </c:doughnutChart>
      <c:spPr>
        <a:noFill/>
        <a:ln>
          <a:noFill/>
        </a:ln>
        <a:effectLst/>
      </c:spPr>
    </c:plotArea>
    <c:legend>
      <c:legendPos val="b"/>
      <c:overlay val="0"/>
      <c:txPr>
        <a:bodyPr/>
        <a:lstStyle/>
        <a:p>
          <a:pPr>
            <a:defRPr sz="700">
              <a:latin typeface="Segoe UI"/>
              <a:cs typeface="Segoe U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Capital</c:v>
                </c:pt>
              </c:strCache>
            </c:strRef>
          </c:tx>
          <c:spPr>
            <a:solidFill>
              <a:srgbClr val="4A5A6B"/>
            </a:solidFill>
            <a:effectLst/>
          </c:spPr>
          <c:invertIfNegative val="0"/>
          <c:dLbls>
            <c:numFmt formatCode="0.0" sourceLinked="0"/>
            <c:txPr>
              <a:bodyPr/>
              <a:lstStyle/>
              <a:p>
                <a:pPr>
                  <a:defRPr b="0" i="0" strike="noStrike" sz="800" u="none">
                    <a:solidFill>
                      <a:srgbClr val="17202B"/>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Borusan Holding</c:v>
                  </c:pt>
                  <c:pt idx="1">
                    <c:v>Borusan Yatırım</c:v>
                  </c:pt>
                  <c:pt idx="2">
                    <c:v>Public float</c:v>
                  </c:pt>
                </c:lvl>
              </c:multiLvlStrCache>
            </c:multiLvlStrRef>
          </c:cat>
          <c:val>
            <c:numRef>
              <c:f>Sheet1!$B$2:$B$4</c:f>
              <c:numCache>
                <c:formatCode>General</c:formatCode>
                <c:ptCount val="3"/>
                <c:pt idx="0">
                  <c:v>68.85</c:v>
                </c:pt>
                <c:pt idx="1">
                  <c:v>9.08</c:v>
                </c:pt>
                <c:pt idx="2">
                  <c:v>22.07</c:v>
                </c:pt>
              </c:numCache>
            </c:numRef>
          </c:val>
        </c:ser>
        <c:ser>
          <c:idx val="1"/>
          <c:order val="1"/>
          <c:tx>
            <c:strRef>
              <c:f>Sheet1!$C$1</c:f>
              <c:strCache>
                <c:ptCount val="1"/>
                <c:pt idx="0">
                  <c:v>Votes</c:v>
                </c:pt>
              </c:strCache>
            </c:strRef>
          </c:tx>
          <c:spPr>
            <a:solidFill>
              <a:srgbClr val="E8692C"/>
            </a:solidFill>
            <a:effectLst/>
          </c:spPr>
          <c:invertIfNegative val="0"/>
          <c:dLbls>
            <c:numFmt formatCode="0.0" sourceLinked="0"/>
            <c:txPr>
              <a:bodyPr/>
              <a:lstStyle/>
              <a:p>
                <a:pPr>
                  <a:defRPr b="0" i="0" strike="noStrike" sz="800" u="none">
                    <a:solidFill>
                      <a:srgbClr val="17202B"/>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Borusan Holding</c:v>
                  </c:pt>
                  <c:pt idx="1">
                    <c:v>Borusan Yatırım</c:v>
                  </c:pt>
                  <c:pt idx="2">
                    <c:v>Public float</c:v>
                  </c:pt>
                </c:lvl>
              </c:multiLvlStrCache>
            </c:multiLvlStrRef>
          </c:cat>
          <c:val>
            <c:numRef>
              <c:f>Sheet1!$C$2:$C$4</c:f>
              <c:numCache>
                <c:formatCode>General</c:formatCode>
                <c:ptCount val="3"/>
                <c:pt idx="0">
                  <c:v>74.22</c:v>
                </c:pt>
                <c:pt idx="1">
                  <c:v>10.02</c:v>
                </c:pt>
                <c:pt idx="2">
                  <c:v>15.76</c:v>
                </c:pt>
              </c:numCache>
            </c:numRef>
          </c:val>
        </c:ser>
        <c:dLbls>
          <c:numFmt formatCode="0.0" sourceLinked="0"/>
          <c:txPr>
            <a:bodyPr/>
            <a:lstStyle/>
            <a:p>
              <a:pPr>
                <a:defRPr b="0" i="0" strike="noStrike" sz="800" u="none">
                  <a:solidFill>
                    <a:srgbClr val="17202B"/>
                  </a:solidFill>
                  <a:latin typeface="Segoe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A5A6B"/>
                </a:solidFill>
                <a:latin typeface="Segoe U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794"/>
                </a:solidFill>
                <a:latin typeface="Segoe UI"/>
              </a:defRPr>
            </a:pPr>
            <a:endParaRPr lang="en-US"/>
          </a:p>
        </c:txPr>
        <c:crossAx val="2094734554"/>
        <c:crosses val="autoZero"/>
        <c:crossBetween val="between"/>
      </c:valAx>
      <c:spPr>
        <a:noFill/>
        <a:ln>
          <a:noFill/>
        </a:ln>
        <a:effectLst/>
      </c:spPr>
    </c:plotArea>
    <c:legend>
      <c:legendPos val="t"/>
      <c:overlay val="0"/>
      <c:txPr>
        <a:bodyPr/>
        <a:lstStyle/>
        <a:p>
          <a:pPr>
            <a:defRPr sz="800">
              <a:latin typeface="Segoe UI"/>
              <a:cs typeface="Segoe U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7202B"/>
                </a:solidFill>
                <a:latin typeface="Segoe UI"/>
              </a:defRPr>
            </a:pPr>
            <a:r>
              <a:rPr sz="900" b="0" i="0" u="none" strike="noStrike">
                <a:solidFill>
                  <a:srgbClr val="17202B"/>
                </a:solidFill>
                <a:latin typeface="Segoe UI"/>
              </a:rPr>
              <a:t>EBITDA margin by quarter</a:t>
            </a:r>
          </a:p>
        </c:rich>
      </c:tx>
      <c:layout/>
      <c:overlay val="0"/>
    </c:title>
    <c:autoTitleDeleted val="0"/>
    <c:plotArea>
      <c:layout/>
      <c:barChart>
        <c:barDir val="col"/>
        <c:grouping val="clustered"/>
        <c:varyColors val="0"/>
        <c:ser>
          <c:idx val="0"/>
          <c:order val="0"/>
          <c:tx>
            <c:strRef>
              <c:f>Sheet1!$B$1</c:f>
              <c:strCache>
                <c:ptCount val="1"/>
                <c:pt idx="0">
                  <c:v>EBITDA margin</c:v>
                </c:pt>
              </c:strCache>
            </c:strRef>
          </c:tx>
          <c:spPr>
            <a:solidFill>
              <a:srgbClr val="4A5A6B"/>
            </a:solidFill>
            <a:effectLst/>
          </c:spPr>
          <c:invertIfNegative val="0"/>
          <c:dLbls>
            <c:numFmt formatCode="0.0&quot;%&quot;" sourceLinked="0"/>
            <c:txPr>
              <a:bodyPr/>
              <a:lstStyle/>
              <a:p>
                <a:pPr>
                  <a:defRPr b="0" i="0" strike="noStrike" sz="900" u="none">
                    <a:solidFill>
                      <a:srgbClr val="17202B"/>
                    </a:solidFill>
                    <a:latin typeface="Segoe UI"/>
                  </a:defRPr>
                </a:pPr>
              </a:p>
            </c:txPr>
            <c:showLegendKey val="0"/>
            <c:showVal val="1"/>
            <c:showCatName val="0"/>
            <c:showSerName val="0"/>
            <c:showPercent val="0"/>
            <c:showBubbleSize val="0"/>
            <c:showLeaderLines val="0"/>
          </c:dLbls>
          <c:dPt>
            <c:idx val="0"/>
            <c:invertIfNegative val="0"/>
            <c:bubble3D val="0"/>
            <c:spPr>
              <a:solidFill>
                <a:srgbClr val="4A5A6B"/>
              </a:solidFill>
              <a:effectLst/>
            </c:spPr>
          </c:dPt>
          <c:dPt>
            <c:idx val="1"/>
            <c:invertIfNegative val="0"/>
            <c:bubble3D val="0"/>
            <c:spPr>
              <a:solidFill>
                <a:srgbClr val="4A5A6B"/>
              </a:solidFill>
              <a:effectLst/>
            </c:spPr>
          </c:dPt>
          <c:dPt>
            <c:idx val="2"/>
            <c:invertIfNegative val="0"/>
            <c:bubble3D val="0"/>
            <c:spPr>
              <a:solidFill>
                <a:srgbClr val="4A5A6B"/>
              </a:solidFill>
              <a:effectLst/>
            </c:spPr>
          </c:dPt>
          <c:dPt>
            <c:idx val="3"/>
            <c:invertIfNegative val="0"/>
            <c:bubble3D val="0"/>
            <c:spPr>
              <a:solidFill>
                <a:srgbClr val="E8692C"/>
              </a:solidFill>
              <a:effectLst/>
            </c:spPr>
          </c:dPt>
          <c:cat>
            <c:multiLvlStrRef>
              <c:f>Sheet1!$A$2:$A$5</c:f>
              <c:multiLvlStrCache>
                <c:ptCount val="4"/>
                <c:lvl>
                  <c:pt idx="0">
                    <c:v>1Q25</c:v>
                  </c:pt>
                  <c:pt idx="1">
                    <c:v>2Q25</c:v>
                  </c:pt>
                  <c:pt idx="2">
                    <c:v>1Q26</c:v>
                  </c:pt>
                  <c:pt idx="3">
                    <c:v>2Q26</c:v>
                  </c:pt>
                </c:lvl>
              </c:multiLvlStrCache>
            </c:multiLvlStrRef>
          </c:cat>
          <c:val>
            <c:numRef>
              <c:f>Sheet1!$B$2:$B$5</c:f>
              <c:numCache>
                <c:formatCode>General</c:formatCode>
                <c:ptCount val="4"/>
                <c:pt idx="0">
                  <c:v>5.5</c:v>
                </c:pt>
                <c:pt idx="1">
                  <c:v>7.9</c:v>
                </c:pt>
                <c:pt idx="2">
                  <c:v>6.3</c:v>
                </c:pt>
                <c:pt idx="3">
                  <c:v>11.5</c:v>
                </c:pt>
              </c:numCache>
            </c:numRef>
          </c:val>
        </c:ser>
        <c:dLbls>
          <c:numFmt formatCode="0.0&quot;%&quot;" sourceLinked="0"/>
          <c:txPr>
            <a:bodyPr/>
            <a:lstStyle/>
            <a:p>
              <a:pPr>
                <a:defRPr b="0" i="0" strike="noStrike" sz="900" u="none">
                  <a:solidFill>
                    <a:srgbClr val="17202B"/>
                  </a:solidFill>
                  <a:latin typeface="Segoe U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A6B"/>
                </a:solidFill>
                <a:latin typeface="Segoe U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794"/>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4A5A6B"/>
            </a:solidFill>
            <a:effectLst/>
          </c:spPr>
          <c:invertIfNegative val="0"/>
          <c:dLbls>
            <c:numFmt formatCode="#,##0" sourceLinked="0"/>
            <c:txPr>
              <a:bodyPr/>
              <a:lstStyle/>
              <a:p>
                <a:pPr>
                  <a:defRPr b="0" i="0" strike="noStrike" sz="900" u="none">
                    <a:solidFill>
                      <a:srgbClr val="17202B"/>
                    </a:solidFill>
                    <a:latin typeface="Segoe UI"/>
                  </a:defRPr>
                </a:pPr>
              </a:p>
            </c:txPr>
            <c:showLegendKey val="0"/>
            <c:showVal val="1"/>
            <c:showCatName val="0"/>
            <c:showSerName val="0"/>
            <c:showPercent val="0"/>
            <c:showBubbleSize val="0"/>
            <c:showLeaderLines val="0"/>
          </c:dLbls>
          <c:dPt>
            <c:idx val="0"/>
            <c:invertIfNegative val="0"/>
            <c:bubble3D val="0"/>
            <c:spPr>
              <a:solidFill>
                <a:srgbClr val="4A5A6B"/>
              </a:solidFill>
              <a:effectLst/>
            </c:spPr>
          </c:dPt>
          <c:dPt>
            <c:idx val="1"/>
            <c:invertIfNegative val="0"/>
            <c:bubble3D val="0"/>
            <c:spPr>
              <a:solidFill>
                <a:srgbClr val="4A5A6B"/>
              </a:solidFill>
              <a:effectLst/>
            </c:spPr>
          </c:dPt>
          <c:dPt>
            <c:idx val="2"/>
            <c:invertIfNegative val="0"/>
            <c:bubble3D val="0"/>
            <c:spPr>
              <a:solidFill>
                <a:srgbClr val="E8692C"/>
              </a:solidFill>
              <a:effectLst/>
            </c:spPr>
          </c:dPt>
          <c:cat>
            <c:multiLvlStrRef>
              <c:f>Sheet1!$A$2:$A$4</c:f>
              <c:multiLvlStrCache>
                <c:ptCount val="3"/>
                <c:lvl>
                  <c:pt idx="0">
                    <c:v>2024</c:v>
                  </c:pt>
                  <c:pt idx="1">
                    <c:v>2025</c:v>
                  </c:pt>
                  <c:pt idx="2">
                    <c:v>2026 guided</c:v>
                  </c:pt>
                </c:lvl>
              </c:multiLvlStrCache>
            </c:multiLvlStrRef>
          </c:cat>
          <c:val>
            <c:numRef>
              <c:f>Sheet1!$B$2:$B$4</c:f>
              <c:numCache>
                <c:formatCode>General</c:formatCode>
                <c:ptCount val="3"/>
                <c:pt idx="0">
                  <c:v>1689.5</c:v>
                </c:pt>
                <c:pt idx="1">
                  <c:v>1796.1</c:v>
                </c:pt>
                <c:pt idx="2">
                  <c:v>2300</c:v>
                </c:pt>
              </c:numCache>
            </c:numRef>
          </c:val>
        </c:ser>
        <c:dLbls>
          <c:numFmt formatCode="#,##0" sourceLinked="0"/>
          <c:txPr>
            <a:bodyPr/>
            <a:lstStyle/>
            <a:p>
              <a:pPr>
                <a:defRPr b="0" i="0" strike="noStrike" sz="900" u="none">
                  <a:solidFill>
                    <a:srgbClr val="17202B"/>
                  </a:solidFill>
                  <a:latin typeface="Segoe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A6B"/>
                </a:solidFill>
                <a:latin typeface="Segoe U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794"/>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PV</c:v>
                </c:pt>
              </c:strCache>
            </c:strRef>
          </c:tx>
          <c:spPr>
            <a:solidFill>
              <a:srgbClr val="4A5A6B"/>
            </a:solidFill>
            <a:effectLst/>
          </c:spPr>
          <c:invertIfNegative val="0"/>
          <c:dLbls>
            <c:numFmt formatCode="#,##0" sourceLinked="0"/>
            <c:txPr>
              <a:bodyPr/>
              <a:lstStyle/>
              <a:p>
                <a:pPr>
                  <a:defRPr b="0" i="0" strike="noStrike" sz="900" u="none">
                    <a:solidFill>
                      <a:srgbClr val="17202B"/>
                    </a:solidFill>
                    <a:latin typeface="Segoe UI"/>
                  </a:defRPr>
                </a:pPr>
              </a:p>
            </c:txPr>
            <c:showLegendKey val="0"/>
            <c:showVal val="1"/>
            <c:showCatName val="0"/>
            <c:showSerName val="0"/>
            <c:showPercent val="0"/>
            <c:showBubbleSize val="0"/>
            <c:showLeaderLines val="0"/>
          </c:dLbls>
          <c:dPt>
            <c:idx val="0"/>
            <c:invertIfNegative val="0"/>
            <c:bubble3D val="0"/>
            <c:spPr>
              <a:solidFill>
                <a:srgbClr val="4A5A6B"/>
              </a:solidFill>
              <a:effectLst/>
            </c:spPr>
          </c:dPt>
          <c:dPt>
            <c:idx val="1"/>
            <c:invertIfNegative val="0"/>
            <c:bubble3D val="0"/>
            <c:spPr>
              <a:solidFill>
                <a:srgbClr val="4A5A6B"/>
              </a:solidFill>
              <a:effectLst/>
            </c:spPr>
          </c:dPt>
          <c:dPt>
            <c:idx val="2"/>
            <c:invertIfNegative val="0"/>
            <c:bubble3D val="0"/>
            <c:spPr>
              <a:solidFill>
                <a:srgbClr val="4A5A6B"/>
              </a:solidFill>
              <a:effectLst/>
            </c:spPr>
          </c:dPt>
          <c:dPt>
            <c:idx val="3"/>
            <c:invertIfNegative val="0"/>
            <c:bubble3D val="0"/>
            <c:spPr>
              <a:solidFill>
                <a:srgbClr val="4A5A6B"/>
              </a:solidFill>
              <a:effectLst/>
            </c:spPr>
          </c:dPt>
          <c:dPt>
            <c:idx val="4"/>
            <c:invertIfNegative val="0"/>
            <c:bubble3D val="0"/>
            <c:spPr>
              <a:solidFill>
                <a:srgbClr val="4A5A6B"/>
              </a:solidFill>
              <a:effectLst/>
            </c:spPr>
          </c:dPt>
          <c:dPt>
            <c:idx val="5"/>
            <c:invertIfNegative val="0"/>
            <c:bubble3D val="0"/>
            <c:spPr>
              <a:solidFill>
                <a:srgbClr val="E8692C"/>
              </a:solidFill>
              <a:effectLst/>
            </c:spPr>
          </c:dPt>
          <c:cat>
            <c:multiLvlStrRef>
              <c:f>Sheet1!$A$2:$A$7</c:f>
              <c:multiLvlStrCache>
                <c:ptCount val="6"/>
                <c:lvl>
                  <c:pt idx="0">
                    <c:v>2026</c:v>
                  </c:pt>
                  <c:pt idx="1">
                    <c:v>2027</c:v>
                  </c:pt>
                  <c:pt idx="2">
                    <c:v>2028</c:v>
                  </c:pt>
                  <c:pt idx="3">
                    <c:v>2029</c:v>
                  </c:pt>
                  <c:pt idx="4">
                    <c:v>2030</c:v>
                  </c:pt>
                  <c:pt idx="5">
                    <c:v>After 2030</c:v>
                  </c:pt>
                </c:lvl>
              </c:multiLvlStrCache>
            </c:multiLvlStrRef>
          </c:cat>
          <c:val>
            <c:numRef>
              <c:f>Sheet1!$B$2:$B$7</c:f>
              <c:numCache>
                <c:formatCode>General</c:formatCode>
                <c:ptCount val="6"/>
                <c:pt idx="0">
                  <c:v>104</c:v>
                </c:pt>
                <c:pt idx="1">
                  <c:v>99</c:v>
                </c:pt>
                <c:pt idx="2">
                  <c:v>93</c:v>
                </c:pt>
                <c:pt idx="3">
                  <c:v>87</c:v>
                </c:pt>
                <c:pt idx="4">
                  <c:v>80</c:v>
                </c:pt>
                <c:pt idx="5">
                  <c:v>1064</c:v>
                </c:pt>
              </c:numCache>
            </c:numRef>
          </c:val>
        </c:ser>
        <c:dLbls>
          <c:numFmt formatCode="#,##0" sourceLinked="0"/>
          <c:txPr>
            <a:bodyPr/>
            <a:lstStyle/>
            <a:p>
              <a:pPr>
                <a:defRPr b="0" i="0" strike="noStrike" sz="900" u="none">
                  <a:solidFill>
                    <a:srgbClr val="17202B"/>
                  </a:solidFill>
                  <a:latin typeface="Segoe U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A6B"/>
                </a:solidFill>
                <a:latin typeface="Segoe U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794"/>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c:v>
                </c:pt>
              </c:strCache>
            </c:strRef>
          </c:tx>
          <c:spPr>
            <a:solidFill>
              <a:srgbClr val="FFFFFF"/>
            </a:solidFill>
            <a:effectLst/>
          </c:spPr>
          <c:invertIfNegative val="0"/>
          <c:dLbls>
            <c:numFmt formatCode="#,##0" sourceLinked="0"/>
            <c:txPr>
              <a:bodyPr/>
              <a:lstStyle/>
              <a:p>
                <a:pPr>
                  <a:defRPr b="0" i="0" strike="noStrike" sz="900" u="none">
                    <a:solidFill>
                      <a:srgbClr val="000000"/>
                    </a:solidFill>
                    <a:latin typeface="Segoe UI"/>
                  </a:defRPr>
                </a:pPr>
              </a:p>
            </c:txPr>
            <c:showLegendKey val="0"/>
            <c:showVal val="0"/>
            <c:showCatName val="0"/>
            <c:showSerName val="0"/>
            <c:showPercent val="0"/>
            <c:showBubbleSize val="0"/>
            <c:showLeaderLines val="0"/>
          </c:dLbls>
          <c:cat>
            <c:multiLvlStrRef>
              <c:f>Sheet1!$A$2:$A$6</c:f>
              <c:multiLvlStrCache>
                <c:ptCount val="5"/>
                <c:lvl>
                  <c:pt idx="0">
                    <c:v>Market cap today</c:v>
                  </c:pt>
                  <c:pt idx="1">
                    <c:v>EV/EBITDA, 2026</c:v>
                  </c:pt>
                  <c:pt idx="2">
                    <c:v>EV/EBITDA, last 12m</c:v>
                  </c:pt>
                  <c:pt idx="3">
                    <c:v>DCF scenarios</c:v>
                  </c:pt>
                  <c:pt idx="4">
                    <c:v>DCF sensitivity</c:v>
                  </c:pt>
                </c:lvl>
              </c:multiLvlStrCache>
            </c:multiLvlStrRef>
          </c:cat>
          <c:val>
            <c:numRef>
              <c:f>Sheet1!$B$2:$B$6</c:f>
              <c:numCache>
                <c:formatCode>General</c:formatCode>
                <c:ptCount val="5"/>
                <c:pt idx="0">
                  <c:v>1906</c:v>
                </c:pt>
                <c:pt idx="1">
                  <c:v>1841</c:v>
                </c:pt>
                <c:pt idx="2">
                  <c:v>1322</c:v>
                </c:pt>
                <c:pt idx="3">
                  <c:v>1047</c:v>
                </c:pt>
                <c:pt idx="4">
                  <c:v>1084</c:v>
                </c:pt>
              </c:numCache>
            </c:numRef>
          </c:val>
        </c:ser>
        <c:ser>
          <c:idx val="1"/>
          <c:order val="1"/>
          <c:tx>
            <c:strRef>
              <c:f>Sheet1!$C$1</c:f>
              <c:strCache>
                <c:ptCount val="1"/>
                <c:pt idx="0">
                  <c:v>range</c:v>
                </c:pt>
              </c:strCache>
            </c:strRef>
          </c:tx>
          <c:spPr>
            <a:solidFill>
              <a:srgbClr val="4A5A6B"/>
            </a:solidFill>
            <a:effectLst/>
          </c:spPr>
          <c:invertIfNegative val="0"/>
          <c:dLbls>
            <c:numFmt formatCode="#,##0" sourceLinked="0"/>
            <c:txPr>
              <a:bodyPr/>
              <a:lstStyle/>
              <a:p>
                <a:pPr>
                  <a:defRPr b="0" i="0" strike="noStrike" sz="900" u="none">
                    <a:solidFill>
                      <a:srgbClr val="000000"/>
                    </a:solidFill>
                    <a:latin typeface="Segoe UI"/>
                  </a:defRPr>
                </a:pPr>
              </a:p>
            </c:txPr>
            <c:showLegendKey val="0"/>
            <c:showVal val="0"/>
            <c:showCatName val="0"/>
            <c:showSerName val="0"/>
            <c:showPercent val="0"/>
            <c:showBubbleSize val="0"/>
            <c:showLeaderLines val="0"/>
          </c:dLbls>
          <c:cat>
            <c:multiLvlStrRef>
              <c:f>Sheet1!$A$2:$A$6</c:f>
              <c:multiLvlStrCache>
                <c:ptCount val="5"/>
                <c:lvl>
                  <c:pt idx="0">
                    <c:v>Market cap today</c:v>
                  </c:pt>
                  <c:pt idx="1">
                    <c:v>EV/EBITDA, 2026</c:v>
                  </c:pt>
                  <c:pt idx="2">
                    <c:v>EV/EBITDA, last 12m</c:v>
                  </c:pt>
                  <c:pt idx="3">
                    <c:v>DCF scenarios</c:v>
                  </c:pt>
                  <c:pt idx="4">
                    <c:v>DCF sensitivity</c:v>
                  </c:pt>
                </c:lvl>
              </c:multiLvlStrCache>
            </c:multiLvlStrRef>
          </c:cat>
          <c:val>
            <c:numRef>
              <c:f>Sheet1!$C$2:$C$6</c:f>
              <c:numCache>
                <c:formatCode>General</c:formatCode>
                <c:ptCount val="5"/>
                <c:pt idx="0">
                  <c:v>24</c:v>
                </c:pt>
                <c:pt idx="1">
                  <c:v>681</c:v>
                </c:pt>
                <c:pt idx="2">
                  <c:v>503</c:v>
                </c:pt>
                <c:pt idx="3">
                  <c:v>926</c:v>
                </c:pt>
                <c:pt idx="4">
                  <c:v>983</c:v>
                </c:pt>
              </c:numCache>
            </c:numRef>
          </c:val>
        </c:ser>
        <c:dLbls>
          <c:numFmt formatCode="#,##0" sourceLinked="0"/>
          <c:txPr>
            <a:bodyPr/>
            <a:lstStyle/>
            <a:p>
              <a:pPr>
                <a:defRPr b="0" i="0" strike="noStrike" sz="900" u="none">
                  <a:solidFill>
                    <a:srgbClr val="000000"/>
                  </a:solidFill>
                  <a:latin typeface="Segoe UI"/>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4A5A6B"/>
                </a:solidFill>
                <a:latin typeface="Segoe UI"/>
              </a:defRPr>
            </a:pPr>
            <a:endParaRPr lang="en-US"/>
          </a:p>
        </c:txPr>
        <c:crossAx val="2094734552"/>
        <c:crosses val="autoZero"/>
        <c:auto val="1"/>
        <c:lblAlgn val="ctr"/>
        <c:noMultiLvlLbl val="1"/>
      </c:catAx>
      <c:valAx>
        <c:axId val="2094734552"/>
        <c:scaling>
          <c:orientation val="minMax"/>
          <c:max val="2800"/>
          <c:min val="800"/>
        </c:scaling>
        <c:delete val="0"/>
        <c:axPos val="b"/>
        <c:majorGridlines>
          <c:spPr>
            <a:ln w="6350" cap="flat">
              <a:solidFill>
                <a:srgbClr val="E3E7EC"/>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800" b="0" i="0" u="none" strike="noStrike">
                <a:solidFill>
                  <a:srgbClr val="7A8794"/>
                </a:solidFill>
                <a:latin typeface="Segoe UI"/>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Borusan Boru, a Turkish pipe maker. Same pipe, same company. But for its US plants I use a Weighted Average Cost of Capital, or WACC, of about 9.4 percent, and for its Turkish plants about 13.6 percent. Why? Answering this is what valuation is about. Today I'm not selling a stock. I'll show you how to value any company, using Borusan as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 is not my invention. It is the CFA Institute's five step valuation process: understand the business, forecast, choose the model, turn the forecast into value, and conclude. For emerging markets, I add two steps: country risk and ownership. And notice: the price comes only at step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toolbox. There are three families of valuation. Intrinsic: what is it worth on its own cash flows, like a Discounted Cash Flow model, or DCF. Relative: what are similar companies priced at. And asset based: what are the pieces worth. A bank, a holding and a young company each need a different tool. For Borusan, cash and two different risks point to a DCF, checked with multiples.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starts with the country, my first emerging market step. Investors ask for about 4 percent extra return in Germany and almost 9 percent in Türkiye. That's more than double. In developed markets, macro is in the background. Here, it is half of the valuation. But risk follows the factory, not the ticker. Borusan is listed in Istanbul, yet 85 percent of its revenue comes from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sector and the business. Pipe makers have their own key numbers: the order book, the steel spread and capacity. Borusan has a 2.6 billion dollar order book until 2028, and 79 percent of its revenue comes from the US. Since April, the US charges a 50 percent duty on imported steel. That protects Borusan's three US plants, but it hits pipes shipped from Turkey. Listed in Istanbul, but an American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second emerging market step: ownership. One share is not one vote. The public owns 22 percent of the capital, but only 16 percent of the votes. And in Turkey, dividends come from the statutory books, not from International Financial Reporting Standards, or IFRS. In 2025, Borusan made an IFRS profit but a statutory loss, so there was no dividend. A good analyst always asks who controls the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part of step one is earnings quality. The margin jumped from about 6 to 11.5 percent in one quarter. New normal, or lucky project mix? And 63 of the 78 million dollars of free cash flow came from working capital, which won't repeat. The good news: debt fell from 3.2 to 0.9 times EBITDA. Profit is an opinion, cash is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forecast. Guidance is the company's forecast, not mine, so I rebuild it from drivers. Revenue is volume times price: about 1.2 million tonnes at roughly 1,900 dollars a tonne, so 2.3 billion dollars. The order book gives visibility until 2028, so volume is not my main worry. The real question is the margin, so I forecast it in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how a DCF really works. I forecast five years of free cash flow. I divide each year by one plus the WACC, once for every year. Then I add the terminal value: the cash after year five, divided by the rate minus growth. Look at the orange bar. In this example, about 70 percent of the value comes after year five. So the rate and growth decide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apply it to Borusan. I use one WACC for each risk: 9.4 percent for the US plants and 13.6 percent for the Turkish plants, and I value each part separately. Then I cross-check with Enterprise Value to EBITDA. Not the price to earnings ratio, because inflation accounting distorts profit. Every method gives a range, and together they say about 1 to 2.5 billion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the conclusion. I don't only ask what the company is worth. I ask what the price assumes. This is called a reverse DCF. Today's price needs about 4.4 percent growth forever. My base case is 2.5. So the market believes the new guidance will last. What would change my mind? Margins falling back, a US policy shock, delayed orders, or weaker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Borusan, step by step. A dollar model, with Turkish risk only where it lives. A protected US niche with group control. Volume is visible; the margin is the debate. A value range of about 1 to 2.5 billion dollars, with the market at 1.9. ESG passes the same test: only if it moves cash or risk. A great analyst doesn't start with 'is it cheap?'. She starts with 'what must be true?'.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every WACC input with its source. If asked about the 2% credit spread, it's my assumption for a BBB-type issuer; JCR rates BRSAN BBB internationally. If asked why lambda equals one: conservative; a lambda below one would raise the Turkish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arithmetic behind both directions, so the jury can check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ten likely questions with one-line answers. Full Turkish explanations in the prep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a:t>
            </a:r>
            <a:endParaRPr lang="en-US" sz="900" dirty="0"/>
          </a:p>
        </p:txBody>
      </p:sp>
      <p:sp>
        <p:nvSpPr>
          <p:cNvPr id="3" name="Text 1"/>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CFA RESEARCH CHALLENGE  ·  METHOD SESSION</a:t>
            </a:r>
            <a:endParaRPr lang="en-US" sz="1000" dirty="0"/>
          </a:p>
        </p:txBody>
      </p:sp>
      <p:sp>
        <p:nvSpPr>
          <p:cNvPr id="4" name="Text 2"/>
          <p:cNvSpPr txBox="1"/>
          <p:nvPr/>
        </p:nvSpPr>
        <p:spPr>
          <a:xfrm>
            <a:off x="548640" y="868680"/>
            <a:ext cx="8138160" cy="777240"/>
          </a:xfrm>
          <a:prstGeom prst="rect">
            <a:avLst/>
          </a:prstGeom>
          <a:noFill/>
          <a:ln/>
        </p:spPr>
        <p:txBody>
          <a:bodyPr wrap="square" lIns="0" tIns="0" rIns="0" bIns="0" rtlCol="0" anchor="ctr"/>
          <a:lstStyle/>
          <a:p>
            <a:pPr indent="0" marL="0">
              <a:buNone/>
            </a:pPr>
            <a:r>
              <a:rPr lang="en-US" sz="4000" b="1" dirty="0">
                <a:solidFill>
                  <a:srgbClr val="17202B"/>
                </a:solidFill>
                <a:latin typeface="Segoe UI Semibold" pitchFamily="34" charset="0"/>
                <a:ea typeface="Segoe UI Semibold" pitchFamily="34" charset="-122"/>
                <a:cs typeface="Segoe UI Semibold" pitchFamily="34" charset="-120"/>
              </a:rPr>
              <a:t>How to Value a Company</a:t>
            </a:r>
            <a:endParaRPr lang="en-US" sz="4000" dirty="0"/>
          </a:p>
        </p:txBody>
      </p:sp>
      <p:sp>
        <p:nvSpPr>
          <p:cNvPr id="5" name="Text 3"/>
          <p:cNvSpPr txBox="1"/>
          <p:nvPr/>
        </p:nvSpPr>
        <p:spPr>
          <a:xfrm>
            <a:off x="548640" y="1645920"/>
            <a:ext cx="5120640" cy="594360"/>
          </a:xfrm>
          <a:prstGeom prst="rect">
            <a:avLst/>
          </a:prstGeom>
          <a:noFill/>
          <a:ln/>
        </p:spPr>
        <p:txBody>
          <a:bodyPr wrap="square" lIns="0" tIns="0" rIns="0" bIns="0" rtlCol="0" anchor="ctr"/>
          <a:lstStyle/>
          <a:p>
            <a:pPr indent="0" marL="0">
              <a:buNone/>
            </a:pPr>
            <a:r>
              <a:rPr lang="en-US" sz="1500" i="1" dirty="0">
                <a:solidFill>
                  <a:srgbClr val="6B7785"/>
                </a:solidFill>
                <a:latin typeface="Segoe UI Semibold" pitchFamily="34" charset="0"/>
                <a:ea typeface="Segoe UI Semibold" pitchFamily="34" charset="-122"/>
                <a:cs typeface="Segoe UI Semibold" pitchFamily="34" charset="-120"/>
              </a:rPr>
              <a:t>The CFA Institute's valuation process, adapted for emerging markets, applied to Borusan Boru</a:t>
            </a:r>
            <a:endParaRPr lang="en-US" sz="1500" dirty="0"/>
          </a:p>
        </p:txBody>
      </p:sp>
      <p:sp>
        <p:nvSpPr>
          <p:cNvPr id="6" name="Text 4"/>
          <p:cNvSpPr txBox="1"/>
          <p:nvPr/>
        </p:nvSpPr>
        <p:spPr>
          <a:xfrm>
            <a:off x="548640" y="2743200"/>
            <a:ext cx="4937760" cy="822960"/>
          </a:xfrm>
          <a:prstGeom prst="rect">
            <a:avLst/>
          </a:prstGeom>
          <a:noFill/>
          <a:ln/>
        </p:spPr>
        <p:txBody>
          <a:bodyPr wrap="square" lIns="0" tIns="0" rIns="0" bIns="0" rtlCol="0" anchor="t"/>
          <a:lstStyle/>
          <a:p>
            <a:pPr indent="0" marL="0">
              <a:buNone/>
            </a:pPr>
            <a:r>
              <a:rPr lang="en-US" sz="1900" b="1" dirty="0">
                <a:solidFill>
                  <a:srgbClr val="17202B"/>
                </a:solidFill>
                <a:latin typeface="Segoe UI Semibold" pitchFamily="34" charset="0"/>
                <a:ea typeface="Segoe UI Semibold" pitchFamily="34" charset="-122"/>
                <a:cs typeface="Segoe UI Semibold" pitchFamily="34" charset="-120"/>
              </a:rPr>
              <a:t>Same pipe. Same company.</a:t>
            </a:r>
            <a:endParaRPr lang="en-US" sz="1900" dirty="0"/>
          </a:p>
          <a:p>
            <a:pPr indent="0" marL="0">
              <a:buNone/>
            </a:pPr>
            <a:r>
              <a:rPr lang="en-US" sz="1900" b="1" dirty="0">
                <a:solidFill>
                  <a:srgbClr val="17202B"/>
                </a:solidFill>
                <a:latin typeface="Segoe UI Semibold" pitchFamily="34" charset="0"/>
                <a:ea typeface="Segoe UI Semibold" pitchFamily="34" charset="-122"/>
                <a:cs typeface="Segoe UI Semibold" pitchFamily="34" charset="-120"/>
              </a:rPr>
              <a:t>Two costs of capital. </a:t>
            </a:r>
            <a:pPr indent="0" marL="0">
              <a:buNone/>
            </a:pPr>
            <a:r>
              <a:rPr lang="en-US" sz="1900" b="1" dirty="0">
                <a:solidFill>
                  <a:srgbClr val="E8692C"/>
                </a:solidFill>
                <a:latin typeface="Segoe UI Semibold" pitchFamily="34" charset="0"/>
                <a:ea typeface="Segoe UI Semibold" pitchFamily="34" charset="-122"/>
                <a:cs typeface="Segoe UI Semibold" pitchFamily="34" charset="-120"/>
              </a:rPr>
              <a:t>Why?</a:t>
            </a:r>
            <a:endParaRPr lang="en-US" sz="1900" dirty="0"/>
          </a:p>
        </p:txBody>
      </p:sp>
      <p:sp>
        <p:nvSpPr>
          <p:cNvPr id="7" name="Shape 5"/>
          <p:cNvSpPr/>
          <p:nvPr/>
        </p:nvSpPr>
        <p:spPr>
          <a:xfrm>
            <a:off x="5989320" y="2331720"/>
            <a:ext cx="1234440" cy="1234440"/>
          </a:xfrm>
          <a:prstGeom prst="ellipse">
            <a:avLst/>
          </a:prstGeom>
          <a:solidFill>
            <a:srgbClr val="FFFFFF"/>
          </a:solidFill>
          <a:ln w="114300">
            <a:solidFill>
              <a:srgbClr val="2B7A78"/>
            </a:solidFill>
            <a:prstDash val="solid"/>
          </a:ln>
        </p:spPr>
      </p:sp>
      <p:sp>
        <p:nvSpPr>
          <p:cNvPr id="8" name="Text 6"/>
          <p:cNvSpPr txBox="1"/>
          <p:nvPr/>
        </p:nvSpPr>
        <p:spPr>
          <a:xfrm>
            <a:off x="5989320" y="2331720"/>
            <a:ext cx="1234440" cy="1234440"/>
          </a:xfrm>
          <a:prstGeom prst="rect">
            <a:avLst/>
          </a:prstGeom>
          <a:noFill/>
          <a:ln/>
        </p:spPr>
        <p:txBody>
          <a:bodyPr wrap="square" lIns="0" tIns="0" rIns="0" bIns="0" rtlCol="0" anchor="ctr"/>
          <a:lstStyle/>
          <a:p>
            <a:pPr algn="ctr" indent="0" marL="0">
              <a:buNone/>
            </a:pPr>
            <a:r>
              <a:rPr lang="en-US" sz="1700" b="1" dirty="0">
                <a:solidFill>
                  <a:srgbClr val="17202B"/>
                </a:solidFill>
                <a:latin typeface="Segoe UI Semibold" pitchFamily="34" charset="0"/>
                <a:ea typeface="Segoe UI Semibold" pitchFamily="34" charset="-122"/>
                <a:cs typeface="Segoe UI Semibold" pitchFamily="34" charset="-120"/>
              </a:rPr>
              <a:t>9.4%</a:t>
            </a:r>
            <a:endParaRPr lang="en-US" sz="1700" dirty="0"/>
          </a:p>
          <a:p>
            <a:pPr algn="ctr" indent="0" marL="0">
              <a:buNone/>
            </a:pPr>
            <a:r>
              <a:rPr lang="en-US" sz="800" dirty="0">
                <a:solidFill>
                  <a:srgbClr val="6B7785"/>
                </a:solidFill>
                <a:latin typeface="Segoe UI" pitchFamily="34" charset="0"/>
                <a:ea typeface="Segoe UI" pitchFamily="34" charset="-122"/>
                <a:cs typeface="Segoe UI" pitchFamily="34" charset="-120"/>
              </a:rPr>
              <a:t>WACC</a:t>
            </a:r>
            <a:endParaRPr lang="en-US" sz="1700" dirty="0"/>
          </a:p>
        </p:txBody>
      </p:sp>
      <p:sp>
        <p:nvSpPr>
          <p:cNvPr id="9" name="Text 7"/>
          <p:cNvSpPr txBox="1"/>
          <p:nvPr/>
        </p:nvSpPr>
        <p:spPr>
          <a:xfrm>
            <a:off x="5806440" y="3657600"/>
            <a:ext cx="1600200" cy="256032"/>
          </a:xfrm>
          <a:prstGeom prst="rect">
            <a:avLst/>
          </a:prstGeom>
          <a:noFill/>
          <a:ln/>
        </p:spPr>
        <p:txBody>
          <a:bodyPr wrap="square" lIns="0" tIns="0" rIns="0" bIns="0" rtlCol="0" anchor="ctr"/>
          <a:lstStyle/>
          <a:p>
            <a:pPr algn="ctr" indent="0" marL="0">
              <a:buNone/>
            </a:pPr>
            <a:r>
              <a:rPr lang="en-US" sz="950" dirty="0">
                <a:solidFill>
                  <a:srgbClr val="6B7785"/>
                </a:solidFill>
                <a:latin typeface="Segoe UI" pitchFamily="34" charset="0"/>
                <a:ea typeface="Segoe UI" pitchFamily="34" charset="-122"/>
                <a:cs typeface="Segoe UI" pitchFamily="34" charset="-120"/>
              </a:rPr>
              <a:t>US plants</a:t>
            </a:r>
            <a:endParaRPr lang="en-US" sz="950" dirty="0"/>
          </a:p>
        </p:txBody>
      </p:sp>
      <p:sp>
        <p:nvSpPr>
          <p:cNvPr id="10" name="Shape 8"/>
          <p:cNvSpPr/>
          <p:nvPr/>
        </p:nvSpPr>
        <p:spPr>
          <a:xfrm>
            <a:off x="7452360" y="2331720"/>
            <a:ext cx="1234440" cy="1234440"/>
          </a:xfrm>
          <a:prstGeom prst="ellipse">
            <a:avLst/>
          </a:prstGeom>
          <a:solidFill>
            <a:srgbClr val="FFFFFF"/>
          </a:solidFill>
          <a:ln w="114300">
            <a:solidFill>
              <a:srgbClr val="E8692C"/>
            </a:solidFill>
            <a:prstDash val="solid"/>
          </a:ln>
        </p:spPr>
      </p:sp>
      <p:sp>
        <p:nvSpPr>
          <p:cNvPr id="11" name="Text 9"/>
          <p:cNvSpPr txBox="1"/>
          <p:nvPr/>
        </p:nvSpPr>
        <p:spPr>
          <a:xfrm>
            <a:off x="7452360" y="2331720"/>
            <a:ext cx="1234440" cy="1234440"/>
          </a:xfrm>
          <a:prstGeom prst="rect">
            <a:avLst/>
          </a:prstGeom>
          <a:noFill/>
          <a:ln/>
        </p:spPr>
        <p:txBody>
          <a:bodyPr wrap="square" lIns="0" tIns="0" rIns="0" bIns="0" rtlCol="0" anchor="ctr"/>
          <a:lstStyle/>
          <a:p>
            <a:pPr algn="ctr" indent="0" marL="0">
              <a:buNone/>
            </a:pPr>
            <a:r>
              <a:rPr lang="en-US" sz="1700" b="1" dirty="0">
                <a:solidFill>
                  <a:srgbClr val="17202B"/>
                </a:solidFill>
                <a:latin typeface="Segoe UI Semibold" pitchFamily="34" charset="0"/>
                <a:ea typeface="Segoe UI Semibold" pitchFamily="34" charset="-122"/>
                <a:cs typeface="Segoe UI Semibold" pitchFamily="34" charset="-120"/>
              </a:rPr>
              <a:t>13.6%</a:t>
            </a:r>
            <a:endParaRPr lang="en-US" sz="1700" dirty="0"/>
          </a:p>
          <a:p>
            <a:pPr algn="ctr" indent="0" marL="0">
              <a:buNone/>
            </a:pPr>
            <a:r>
              <a:rPr lang="en-US" sz="800" dirty="0">
                <a:solidFill>
                  <a:srgbClr val="6B7785"/>
                </a:solidFill>
                <a:latin typeface="Segoe UI" pitchFamily="34" charset="0"/>
                <a:ea typeface="Segoe UI" pitchFamily="34" charset="-122"/>
                <a:cs typeface="Segoe UI" pitchFamily="34" charset="-120"/>
              </a:rPr>
              <a:t>WACC</a:t>
            </a:r>
            <a:endParaRPr lang="en-US" sz="1700" dirty="0"/>
          </a:p>
        </p:txBody>
      </p:sp>
      <p:sp>
        <p:nvSpPr>
          <p:cNvPr id="12" name="Text 10"/>
          <p:cNvSpPr txBox="1"/>
          <p:nvPr/>
        </p:nvSpPr>
        <p:spPr>
          <a:xfrm>
            <a:off x="7269480" y="3657600"/>
            <a:ext cx="1600200" cy="256032"/>
          </a:xfrm>
          <a:prstGeom prst="rect">
            <a:avLst/>
          </a:prstGeom>
          <a:noFill/>
          <a:ln/>
        </p:spPr>
        <p:txBody>
          <a:bodyPr wrap="square" lIns="0" tIns="0" rIns="0" bIns="0" rtlCol="0" anchor="ctr"/>
          <a:lstStyle/>
          <a:p>
            <a:pPr algn="ctr" indent="0" marL="0">
              <a:buNone/>
            </a:pPr>
            <a:r>
              <a:rPr lang="en-US" sz="950" dirty="0">
                <a:solidFill>
                  <a:srgbClr val="6B7785"/>
                </a:solidFill>
                <a:latin typeface="Segoe UI" pitchFamily="34" charset="0"/>
                <a:ea typeface="Segoe UI" pitchFamily="34" charset="-122"/>
                <a:cs typeface="Segoe UI" pitchFamily="34" charset="-120"/>
              </a:rPr>
              <a:t>Türkiye plants</a:t>
            </a:r>
            <a:endParaRPr lang="en-US" sz="950" dirty="0"/>
          </a:p>
        </p:txBody>
      </p:sp>
      <p:sp>
        <p:nvSpPr>
          <p:cNvPr id="13" name="Text 11"/>
          <p:cNvSpPr txBox="1"/>
          <p:nvPr/>
        </p:nvSpPr>
        <p:spPr>
          <a:xfrm>
            <a:off x="548640" y="4526280"/>
            <a:ext cx="7132320" cy="274320"/>
          </a:xfrm>
          <a:prstGeom prst="rect">
            <a:avLst/>
          </a:prstGeom>
          <a:noFill/>
          <a:ln/>
        </p:spPr>
        <p:txBody>
          <a:bodyPr wrap="square" lIns="0" tIns="0" rIns="0" bIns="0" rtlCol="0" anchor="ctr"/>
          <a:lstStyle/>
          <a:p>
            <a:pPr indent="0" marL="0">
              <a:buNone/>
            </a:pPr>
            <a:r>
              <a:rPr lang="en-US" sz="900" dirty="0">
                <a:solidFill>
                  <a:srgbClr val="6B7785"/>
                </a:solidFill>
                <a:latin typeface="Segoe UI" pitchFamily="34" charset="0"/>
                <a:ea typeface="Segoe UI" pitchFamily="34" charset="-122"/>
                <a:cs typeface="Segoe UI" pitchFamily="34" charset="-120"/>
              </a:rPr>
              <a:t>Selin Soydan  ·  Economics &amp; Finance  ·  October 2026  ·  A method, not a buy or sell call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THE MAP</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Contents: the CFA valuation process, plus two EM steps</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2</a:t>
            </a:r>
            <a:endParaRPr lang="en-US" sz="900" dirty="0"/>
          </a:p>
        </p:txBody>
      </p:sp>
      <p:sp>
        <p:nvSpPr>
          <p:cNvPr id="5" name="Text 3"/>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6" name="Shape 4"/>
          <p:cNvSpPr/>
          <p:nvPr/>
        </p:nvSpPr>
        <p:spPr>
          <a:xfrm>
            <a:off x="457200" y="1188720"/>
            <a:ext cx="8321040" cy="502920"/>
          </a:xfrm>
          <a:prstGeom prst="roundRect">
            <a:avLst>
              <a:gd name="adj" fmla="val 10909"/>
            </a:avLst>
          </a:prstGeom>
          <a:solidFill>
            <a:srgbClr val="F4F6F9"/>
          </a:solidFill>
          <a:ln w="12700">
            <a:solidFill>
              <a:srgbClr val="F4F6F9"/>
            </a:solidFill>
            <a:prstDash val="solid"/>
          </a:ln>
        </p:spPr>
      </p:sp>
      <p:sp>
        <p:nvSpPr>
          <p:cNvPr id="7" name="Shape 5"/>
          <p:cNvSpPr/>
          <p:nvPr/>
        </p:nvSpPr>
        <p:spPr>
          <a:xfrm>
            <a:off x="548640" y="1243584"/>
            <a:ext cx="384048" cy="384048"/>
          </a:xfrm>
          <a:prstGeom prst="ellipse">
            <a:avLst/>
          </a:prstGeom>
          <a:solidFill>
            <a:srgbClr val="F4F6F9"/>
          </a:solidFill>
          <a:ln w="12700">
            <a:solidFill>
              <a:srgbClr val="F4F6F9"/>
            </a:solidFill>
            <a:prstDash val="solid"/>
          </a:ln>
        </p:spPr>
      </p:sp>
      <p:pic>
        <p:nvPicPr>
          <p:cNvPr id="8" name="Image 0" descr="icons/navy_valuation.png">    </p:cNvPr>
          <p:cNvPicPr>
            <a:picLocks noChangeAspect="1"/>
          </p:cNvPicPr>
          <p:nvPr/>
        </p:nvPicPr>
        <p:blipFill>
          <a:blip r:embed="rId1"/>
          <a:stretch>
            <a:fillRect/>
          </a:stretch>
        </p:blipFill>
        <p:spPr>
          <a:xfrm>
            <a:off x="648492" y="1343436"/>
            <a:ext cx="184343" cy="184343"/>
          </a:xfrm>
          <a:prstGeom prst="rect">
            <a:avLst/>
          </a:prstGeom>
        </p:spPr>
      </p:pic>
      <p:sp>
        <p:nvSpPr>
          <p:cNvPr id="9" name="Text 6"/>
          <p:cNvSpPr txBox="1"/>
          <p:nvPr/>
        </p:nvSpPr>
        <p:spPr>
          <a:xfrm>
            <a:off x="1051560" y="1188720"/>
            <a:ext cx="7589520" cy="502920"/>
          </a:xfrm>
          <a:prstGeom prst="rect">
            <a:avLst/>
          </a:prstGeom>
          <a:noFill/>
          <a:ln/>
        </p:spPr>
        <p:txBody>
          <a:bodyPr wrap="square" lIns="0" tIns="0" rIns="0" bIns="0" rtlCol="0" anchor="ctr"/>
          <a:lstStyle/>
          <a:p>
            <a:pPr indent="0" marL="0">
              <a:buNone/>
            </a:pPr>
            <a:r>
              <a:rPr lang="en-US" sz="1100" b="1" dirty="0">
                <a:solidFill>
                  <a:srgbClr val="17202B"/>
                </a:solidFill>
                <a:latin typeface="Segoe UI" pitchFamily="34" charset="0"/>
                <a:ea typeface="Segoe UI" pitchFamily="34" charset="-122"/>
                <a:cs typeface="Segoe UI" pitchFamily="34" charset="-120"/>
              </a:rPr>
              <a:t>The toolbox</a:t>
            </a:r>
            <a:pPr indent="0" marL="0">
              <a:buNone/>
            </a:pPr>
            <a:r>
              <a:rPr lang="en-US" sz="1100" dirty="0">
                <a:solidFill>
                  <a:srgbClr val="6B7785"/>
                </a:solidFill>
                <a:latin typeface="Segoe UI" pitchFamily="34" charset="0"/>
                <a:ea typeface="Segoe UI" pitchFamily="34" charset="-122"/>
                <a:cs typeface="Segoe UI" pitchFamily="34" charset="-120"/>
              </a:rPr>
              <a:t>   Which method fits which company?   ·  slide 3</a:t>
            </a:r>
            <a:endParaRPr lang="en-US" sz="1100" dirty="0"/>
          </a:p>
        </p:txBody>
      </p:sp>
      <p:sp>
        <p:nvSpPr>
          <p:cNvPr id="10" name="Shape 7"/>
          <p:cNvSpPr/>
          <p:nvPr/>
        </p:nvSpPr>
        <p:spPr>
          <a:xfrm>
            <a:off x="457200" y="1828800"/>
            <a:ext cx="4846320" cy="1874520"/>
          </a:xfrm>
          <a:prstGeom prst="roundRect">
            <a:avLst>
              <a:gd name="adj" fmla="val 2927"/>
            </a:avLst>
          </a:prstGeom>
          <a:solidFill>
            <a:srgbClr val="F4F6F9"/>
          </a:solidFill>
          <a:ln w="12700">
            <a:solidFill>
              <a:srgbClr val="F4F6F9"/>
            </a:solidFill>
            <a:prstDash val="solid"/>
          </a:ln>
        </p:spPr>
      </p:sp>
      <p:sp>
        <p:nvSpPr>
          <p:cNvPr id="11" name="Text 8"/>
          <p:cNvSpPr txBox="1"/>
          <p:nvPr/>
        </p:nvSpPr>
        <p:spPr>
          <a:xfrm>
            <a:off x="594360" y="1901952"/>
            <a:ext cx="4572000" cy="256032"/>
          </a:xfrm>
          <a:prstGeom prst="rect">
            <a:avLst/>
          </a:prstGeom>
          <a:noFill/>
          <a:ln/>
        </p:spPr>
        <p:txBody>
          <a:bodyPr wrap="square" lIns="0" tIns="0" rIns="0" bIns="0" rtlCol="0" anchor="ctr"/>
          <a:lstStyle/>
          <a:p>
            <a:pPr indent="0" marL="0">
              <a:buNone/>
            </a:pPr>
            <a:r>
              <a:rPr lang="en-US" sz="950" b="1" spc="150" kern="0" dirty="0">
                <a:solidFill>
                  <a:srgbClr val="2B7A78"/>
                </a:solidFill>
                <a:latin typeface="Segoe UI" pitchFamily="34" charset="0"/>
                <a:ea typeface="Segoe UI" pitchFamily="34" charset="-122"/>
                <a:cs typeface="Segoe UI" pitchFamily="34" charset="-120"/>
              </a:rPr>
              <a:t>1  UNDERSTAND THE BUSINESS</a:t>
            </a:r>
            <a:endParaRPr lang="en-US" sz="950" dirty="0"/>
          </a:p>
        </p:txBody>
      </p:sp>
      <p:sp>
        <p:nvSpPr>
          <p:cNvPr id="12" name="Shape 9"/>
          <p:cNvSpPr/>
          <p:nvPr/>
        </p:nvSpPr>
        <p:spPr>
          <a:xfrm>
            <a:off x="594360" y="2240280"/>
            <a:ext cx="1078992" cy="1353312"/>
          </a:xfrm>
          <a:prstGeom prst="roundRect">
            <a:avLst>
              <a:gd name="adj" fmla="val 5085"/>
            </a:avLst>
          </a:prstGeom>
          <a:solidFill>
            <a:srgbClr val="FFFFFF"/>
          </a:solidFill>
          <a:ln w="12700">
            <a:solidFill>
              <a:srgbClr val="FFFFFF"/>
            </a:solidFill>
            <a:prstDash val="solid"/>
          </a:ln>
        </p:spPr>
      </p:sp>
      <p:sp>
        <p:nvSpPr>
          <p:cNvPr id="13" name="Shape 10"/>
          <p:cNvSpPr/>
          <p:nvPr/>
        </p:nvSpPr>
        <p:spPr>
          <a:xfrm>
            <a:off x="923544" y="2331720"/>
            <a:ext cx="420624" cy="420624"/>
          </a:xfrm>
          <a:prstGeom prst="ellipse">
            <a:avLst/>
          </a:prstGeom>
          <a:solidFill>
            <a:srgbClr val="F4F6F9"/>
          </a:solidFill>
          <a:ln w="12700">
            <a:solidFill>
              <a:srgbClr val="F4F6F9"/>
            </a:solidFill>
            <a:prstDash val="solid"/>
          </a:ln>
        </p:spPr>
      </p:sp>
      <p:pic>
        <p:nvPicPr>
          <p:cNvPr id="14" name="Image 1" descr="icons/navy_country.png">    </p:cNvPr>
          <p:cNvPicPr>
            <a:picLocks noChangeAspect="1"/>
          </p:cNvPicPr>
          <p:nvPr/>
        </p:nvPicPr>
        <p:blipFill>
          <a:blip r:embed="rId2"/>
          <a:stretch>
            <a:fillRect/>
          </a:stretch>
        </p:blipFill>
        <p:spPr>
          <a:xfrm>
            <a:off x="1032906" y="2441082"/>
            <a:ext cx="201900" cy="201900"/>
          </a:xfrm>
          <a:prstGeom prst="rect">
            <a:avLst/>
          </a:prstGeom>
        </p:spPr>
      </p:pic>
      <p:sp>
        <p:nvSpPr>
          <p:cNvPr id="15" name="Text 11"/>
          <p:cNvSpPr txBox="1"/>
          <p:nvPr/>
        </p:nvSpPr>
        <p:spPr>
          <a:xfrm>
            <a:off x="640080" y="2788920"/>
            <a:ext cx="987552" cy="384048"/>
          </a:xfrm>
          <a:prstGeom prst="rect">
            <a:avLst/>
          </a:prstGeom>
          <a:noFill/>
          <a:ln/>
        </p:spPr>
        <p:txBody>
          <a:bodyPr wrap="square" lIns="0" tIns="0" rIns="0" bIns="0" rtlCol="0" anchor="t"/>
          <a:lstStyle/>
          <a:p>
            <a:pPr algn="ctr" indent="0" marL="0">
              <a:buNone/>
            </a:pPr>
            <a:r>
              <a:rPr lang="en-US" sz="950" b="1" dirty="0">
                <a:solidFill>
                  <a:srgbClr val="17202B"/>
                </a:solidFill>
                <a:latin typeface="Segoe UI Semibold" pitchFamily="34" charset="0"/>
                <a:ea typeface="Segoe UI Semibold" pitchFamily="34" charset="-122"/>
                <a:cs typeface="Segoe UI Semibold" pitchFamily="34" charset="-120"/>
              </a:rPr>
              <a:t>Country</a:t>
            </a:r>
            <a:endParaRPr lang="en-US" sz="950" dirty="0"/>
          </a:p>
        </p:txBody>
      </p:sp>
      <p:sp>
        <p:nvSpPr>
          <p:cNvPr id="16" name="Text 12"/>
          <p:cNvSpPr txBox="1"/>
          <p:nvPr/>
        </p:nvSpPr>
        <p:spPr>
          <a:xfrm>
            <a:off x="640080" y="3246120"/>
            <a:ext cx="987552" cy="228600"/>
          </a:xfrm>
          <a:prstGeom prst="rect">
            <a:avLst/>
          </a:prstGeom>
          <a:noFill/>
          <a:ln/>
        </p:spPr>
        <p:txBody>
          <a:bodyPr wrap="square" lIns="0" tIns="0" rIns="0" bIns="0" rtlCol="0" anchor="ctr"/>
          <a:lstStyle/>
          <a:p>
            <a:pPr algn="ctr" indent="0" marL="0">
              <a:buNone/>
            </a:pPr>
            <a:r>
              <a:rPr lang="en-US" sz="800" b="1" dirty="0">
                <a:solidFill>
                  <a:srgbClr val="E8692C"/>
                </a:solidFill>
                <a:latin typeface="Segoe UI" pitchFamily="34" charset="0"/>
                <a:ea typeface="Segoe UI" pitchFamily="34" charset="-122"/>
                <a:cs typeface="Segoe UI" pitchFamily="34" charset="-120"/>
              </a:rPr>
              <a:t>slide 4  ·  EM +</a:t>
            </a:r>
            <a:endParaRPr lang="en-US" sz="800" dirty="0"/>
          </a:p>
        </p:txBody>
      </p:sp>
      <p:sp>
        <p:nvSpPr>
          <p:cNvPr id="17" name="Shape 13"/>
          <p:cNvSpPr/>
          <p:nvPr/>
        </p:nvSpPr>
        <p:spPr>
          <a:xfrm>
            <a:off x="1755648" y="2240280"/>
            <a:ext cx="1078992" cy="1353312"/>
          </a:xfrm>
          <a:prstGeom prst="roundRect">
            <a:avLst>
              <a:gd name="adj" fmla="val 5085"/>
            </a:avLst>
          </a:prstGeom>
          <a:solidFill>
            <a:srgbClr val="FFFFFF"/>
          </a:solidFill>
          <a:ln w="12700">
            <a:solidFill>
              <a:srgbClr val="FFFFFF"/>
            </a:solidFill>
            <a:prstDash val="solid"/>
          </a:ln>
        </p:spPr>
      </p:sp>
      <p:sp>
        <p:nvSpPr>
          <p:cNvPr id="18" name="Shape 14"/>
          <p:cNvSpPr/>
          <p:nvPr/>
        </p:nvSpPr>
        <p:spPr>
          <a:xfrm>
            <a:off x="2084832" y="2331720"/>
            <a:ext cx="420624" cy="420624"/>
          </a:xfrm>
          <a:prstGeom prst="ellipse">
            <a:avLst/>
          </a:prstGeom>
          <a:solidFill>
            <a:srgbClr val="F4F6F9"/>
          </a:solidFill>
          <a:ln w="12700">
            <a:solidFill>
              <a:srgbClr val="F4F6F9"/>
            </a:solidFill>
            <a:prstDash val="solid"/>
          </a:ln>
        </p:spPr>
      </p:sp>
      <p:pic>
        <p:nvPicPr>
          <p:cNvPr id="19" name="Image 2" descr="icons/navy_sector.png">    </p:cNvPr>
          <p:cNvPicPr>
            <a:picLocks noChangeAspect="1"/>
          </p:cNvPicPr>
          <p:nvPr/>
        </p:nvPicPr>
        <p:blipFill>
          <a:blip r:embed="rId3"/>
          <a:stretch>
            <a:fillRect/>
          </a:stretch>
        </p:blipFill>
        <p:spPr>
          <a:xfrm>
            <a:off x="2194194" y="2441082"/>
            <a:ext cx="201900" cy="201900"/>
          </a:xfrm>
          <a:prstGeom prst="rect">
            <a:avLst/>
          </a:prstGeom>
        </p:spPr>
      </p:pic>
      <p:sp>
        <p:nvSpPr>
          <p:cNvPr id="20" name="Text 15"/>
          <p:cNvSpPr txBox="1"/>
          <p:nvPr/>
        </p:nvSpPr>
        <p:spPr>
          <a:xfrm>
            <a:off x="1801368" y="2788920"/>
            <a:ext cx="987552" cy="384048"/>
          </a:xfrm>
          <a:prstGeom prst="rect">
            <a:avLst/>
          </a:prstGeom>
          <a:noFill/>
          <a:ln/>
        </p:spPr>
        <p:txBody>
          <a:bodyPr wrap="square" lIns="0" tIns="0" rIns="0" bIns="0" rtlCol="0" anchor="t"/>
          <a:lstStyle/>
          <a:p>
            <a:pPr algn="ctr" indent="0" marL="0">
              <a:buNone/>
            </a:pPr>
            <a:r>
              <a:rPr lang="en-US" sz="950" b="1" dirty="0">
                <a:solidFill>
                  <a:srgbClr val="17202B"/>
                </a:solidFill>
                <a:latin typeface="Segoe UI Semibold" pitchFamily="34" charset="0"/>
                <a:ea typeface="Segoe UI Semibold" pitchFamily="34" charset="-122"/>
                <a:cs typeface="Segoe UI Semibold" pitchFamily="34" charset="-120"/>
              </a:rPr>
              <a:t>Sector and business</a:t>
            </a:r>
            <a:endParaRPr lang="en-US" sz="950" dirty="0"/>
          </a:p>
        </p:txBody>
      </p:sp>
      <p:sp>
        <p:nvSpPr>
          <p:cNvPr id="21" name="Text 16"/>
          <p:cNvSpPr txBox="1"/>
          <p:nvPr/>
        </p:nvSpPr>
        <p:spPr>
          <a:xfrm>
            <a:off x="1801368" y="3246120"/>
            <a:ext cx="987552" cy="228600"/>
          </a:xfrm>
          <a:prstGeom prst="rect">
            <a:avLst/>
          </a:prstGeom>
          <a:noFill/>
          <a:ln/>
        </p:spPr>
        <p:txBody>
          <a:bodyPr wrap="square" lIns="0" tIns="0" rIns="0" bIns="0" rtlCol="0" anchor="ctr"/>
          <a:lstStyle/>
          <a:p>
            <a:pPr algn="ctr" indent="0" marL="0">
              <a:buNone/>
            </a:pPr>
            <a:r>
              <a:rPr lang="en-US" sz="800" dirty="0">
                <a:solidFill>
                  <a:srgbClr val="6B7785"/>
                </a:solidFill>
                <a:latin typeface="Segoe UI" pitchFamily="34" charset="0"/>
                <a:ea typeface="Segoe UI" pitchFamily="34" charset="-122"/>
                <a:cs typeface="Segoe UI" pitchFamily="34" charset="-120"/>
              </a:rPr>
              <a:t>slide 5</a:t>
            </a:r>
            <a:endParaRPr lang="en-US" sz="800" dirty="0"/>
          </a:p>
        </p:txBody>
      </p:sp>
      <p:sp>
        <p:nvSpPr>
          <p:cNvPr id="22" name="Shape 17"/>
          <p:cNvSpPr/>
          <p:nvPr/>
        </p:nvSpPr>
        <p:spPr>
          <a:xfrm>
            <a:off x="2916936" y="2240280"/>
            <a:ext cx="1078992" cy="1353312"/>
          </a:xfrm>
          <a:prstGeom prst="roundRect">
            <a:avLst>
              <a:gd name="adj" fmla="val 5085"/>
            </a:avLst>
          </a:prstGeom>
          <a:solidFill>
            <a:srgbClr val="FFFFFF"/>
          </a:solidFill>
          <a:ln w="12700">
            <a:solidFill>
              <a:srgbClr val="FFFFFF"/>
            </a:solidFill>
            <a:prstDash val="solid"/>
          </a:ln>
        </p:spPr>
      </p:sp>
      <p:sp>
        <p:nvSpPr>
          <p:cNvPr id="23" name="Shape 18"/>
          <p:cNvSpPr/>
          <p:nvPr/>
        </p:nvSpPr>
        <p:spPr>
          <a:xfrm>
            <a:off x="3246120" y="2331720"/>
            <a:ext cx="420624" cy="420624"/>
          </a:xfrm>
          <a:prstGeom prst="ellipse">
            <a:avLst/>
          </a:prstGeom>
          <a:solidFill>
            <a:srgbClr val="F4F6F9"/>
          </a:solidFill>
          <a:ln w="12700">
            <a:solidFill>
              <a:srgbClr val="F4F6F9"/>
            </a:solidFill>
            <a:prstDash val="solid"/>
          </a:ln>
        </p:spPr>
      </p:sp>
      <p:pic>
        <p:nvPicPr>
          <p:cNvPr id="24" name="Image 3" descr="icons/navy_ownership.png">    </p:cNvPr>
          <p:cNvPicPr>
            <a:picLocks noChangeAspect="1"/>
          </p:cNvPicPr>
          <p:nvPr/>
        </p:nvPicPr>
        <p:blipFill>
          <a:blip r:embed="rId4"/>
          <a:stretch>
            <a:fillRect/>
          </a:stretch>
        </p:blipFill>
        <p:spPr>
          <a:xfrm>
            <a:off x="3355482" y="2441082"/>
            <a:ext cx="201900" cy="201900"/>
          </a:xfrm>
          <a:prstGeom prst="rect">
            <a:avLst/>
          </a:prstGeom>
        </p:spPr>
      </p:pic>
      <p:sp>
        <p:nvSpPr>
          <p:cNvPr id="25" name="Text 19"/>
          <p:cNvSpPr txBox="1"/>
          <p:nvPr/>
        </p:nvSpPr>
        <p:spPr>
          <a:xfrm>
            <a:off x="2962656" y="2788920"/>
            <a:ext cx="987552" cy="384048"/>
          </a:xfrm>
          <a:prstGeom prst="rect">
            <a:avLst/>
          </a:prstGeom>
          <a:noFill/>
          <a:ln/>
        </p:spPr>
        <p:txBody>
          <a:bodyPr wrap="square" lIns="0" tIns="0" rIns="0" bIns="0" rtlCol="0" anchor="t"/>
          <a:lstStyle/>
          <a:p>
            <a:pPr algn="ctr" indent="0" marL="0">
              <a:buNone/>
            </a:pPr>
            <a:r>
              <a:rPr lang="en-US" sz="950" b="1" dirty="0">
                <a:solidFill>
                  <a:srgbClr val="17202B"/>
                </a:solidFill>
                <a:latin typeface="Segoe UI Semibold" pitchFamily="34" charset="0"/>
                <a:ea typeface="Segoe UI Semibold" pitchFamily="34" charset="-122"/>
                <a:cs typeface="Segoe UI Semibold" pitchFamily="34" charset="-120"/>
              </a:rPr>
              <a:t>Ownership</a:t>
            </a:r>
            <a:endParaRPr lang="en-US" sz="950" dirty="0"/>
          </a:p>
        </p:txBody>
      </p:sp>
      <p:sp>
        <p:nvSpPr>
          <p:cNvPr id="26" name="Text 20"/>
          <p:cNvSpPr txBox="1"/>
          <p:nvPr/>
        </p:nvSpPr>
        <p:spPr>
          <a:xfrm>
            <a:off x="2962656" y="3246120"/>
            <a:ext cx="987552" cy="228600"/>
          </a:xfrm>
          <a:prstGeom prst="rect">
            <a:avLst/>
          </a:prstGeom>
          <a:noFill/>
          <a:ln/>
        </p:spPr>
        <p:txBody>
          <a:bodyPr wrap="square" lIns="0" tIns="0" rIns="0" bIns="0" rtlCol="0" anchor="ctr"/>
          <a:lstStyle/>
          <a:p>
            <a:pPr algn="ctr" indent="0" marL="0">
              <a:buNone/>
            </a:pPr>
            <a:r>
              <a:rPr lang="en-US" sz="800" b="1" dirty="0">
                <a:solidFill>
                  <a:srgbClr val="E8692C"/>
                </a:solidFill>
                <a:latin typeface="Segoe UI" pitchFamily="34" charset="0"/>
                <a:ea typeface="Segoe UI" pitchFamily="34" charset="-122"/>
                <a:cs typeface="Segoe UI" pitchFamily="34" charset="-120"/>
              </a:rPr>
              <a:t>slide 6  ·  EM +</a:t>
            </a:r>
            <a:endParaRPr lang="en-US" sz="800" dirty="0"/>
          </a:p>
        </p:txBody>
      </p:sp>
      <p:sp>
        <p:nvSpPr>
          <p:cNvPr id="27" name="Shape 21"/>
          <p:cNvSpPr/>
          <p:nvPr/>
        </p:nvSpPr>
        <p:spPr>
          <a:xfrm>
            <a:off x="4078224" y="2240280"/>
            <a:ext cx="1078992" cy="1353312"/>
          </a:xfrm>
          <a:prstGeom prst="roundRect">
            <a:avLst>
              <a:gd name="adj" fmla="val 5085"/>
            </a:avLst>
          </a:prstGeom>
          <a:solidFill>
            <a:srgbClr val="FFFFFF"/>
          </a:solidFill>
          <a:ln w="12700">
            <a:solidFill>
              <a:srgbClr val="FFFFFF"/>
            </a:solidFill>
            <a:prstDash val="solid"/>
          </a:ln>
        </p:spPr>
      </p:sp>
      <p:sp>
        <p:nvSpPr>
          <p:cNvPr id="28" name="Shape 22"/>
          <p:cNvSpPr/>
          <p:nvPr/>
        </p:nvSpPr>
        <p:spPr>
          <a:xfrm>
            <a:off x="4407408" y="2331720"/>
            <a:ext cx="420624" cy="420624"/>
          </a:xfrm>
          <a:prstGeom prst="ellipse">
            <a:avLst/>
          </a:prstGeom>
          <a:solidFill>
            <a:srgbClr val="F4F6F9"/>
          </a:solidFill>
          <a:ln w="12700">
            <a:solidFill>
              <a:srgbClr val="F4F6F9"/>
            </a:solidFill>
            <a:prstDash val="solid"/>
          </a:ln>
        </p:spPr>
      </p:sp>
      <p:pic>
        <p:nvPicPr>
          <p:cNvPr id="29" name="Image 4" descr="icons/navy_financials.png">    </p:cNvPr>
          <p:cNvPicPr>
            <a:picLocks noChangeAspect="1"/>
          </p:cNvPicPr>
          <p:nvPr/>
        </p:nvPicPr>
        <p:blipFill>
          <a:blip r:embed="rId5"/>
          <a:stretch>
            <a:fillRect/>
          </a:stretch>
        </p:blipFill>
        <p:spPr>
          <a:xfrm>
            <a:off x="4516770" y="2441082"/>
            <a:ext cx="201900" cy="201900"/>
          </a:xfrm>
          <a:prstGeom prst="rect">
            <a:avLst/>
          </a:prstGeom>
        </p:spPr>
      </p:pic>
      <p:sp>
        <p:nvSpPr>
          <p:cNvPr id="30" name="Text 23"/>
          <p:cNvSpPr txBox="1"/>
          <p:nvPr/>
        </p:nvSpPr>
        <p:spPr>
          <a:xfrm>
            <a:off x="4123944" y="2788920"/>
            <a:ext cx="987552" cy="384048"/>
          </a:xfrm>
          <a:prstGeom prst="rect">
            <a:avLst/>
          </a:prstGeom>
          <a:noFill/>
          <a:ln/>
        </p:spPr>
        <p:txBody>
          <a:bodyPr wrap="square" lIns="0" tIns="0" rIns="0" bIns="0" rtlCol="0" anchor="t"/>
          <a:lstStyle/>
          <a:p>
            <a:pPr algn="ctr" indent="0" marL="0">
              <a:buNone/>
            </a:pPr>
            <a:r>
              <a:rPr lang="en-US" sz="950" b="1" dirty="0">
                <a:solidFill>
                  <a:srgbClr val="17202B"/>
                </a:solidFill>
                <a:latin typeface="Segoe UI Semibold" pitchFamily="34" charset="0"/>
                <a:ea typeface="Segoe UI Semibold" pitchFamily="34" charset="-122"/>
                <a:cs typeface="Segoe UI Semibold" pitchFamily="34" charset="-120"/>
              </a:rPr>
              <a:t>Earnings quality</a:t>
            </a:r>
            <a:endParaRPr lang="en-US" sz="950" dirty="0"/>
          </a:p>
        </p:txBody>
      </p:sp>
      <p:sp>
        <p:nvSpPr>
          <p:cNvPr id="31" name="Text 24"/>
          <p:cNvSpPr txBox="1"/>
          <p:nvPr/>
        </p:nvSpPr>
        <p:spPr>
          <a:xfrm>
            <a:off x="4123944" y="3246120"/>
            <a:ext cx="987552" cy="228600"/>
          </a:xfrm>
          <a:prstGeom prst="rect">
            <a:avLst/>
          </a:prstGeom>
          <a:noFill/>
          <a:ln/>
        </p:spPr>
        <p:txBody>
          <a:bodyPr wrap="square" lIns="0" tIns="0" rIns="0" bIns="0" rtlCol="0" anchor="ctr"/>
          <a:lstStyle/>
          <a:p>
            <a:pPr algn="ctr" indent="0" marL="0">
              <a:buNone/>
            </a:pPr>
            <a:r>
              <a:rPr lang="en-US" sz="800" dirty="0">
                <a:solidFill>
                  <a:srgbClr val="6B7785"/>
                </a:solidFill>
                <a:latin typeface="Segoe UI" pitchFamily="34" charset="0"/>
                <a:ea typeface="Segoe UI" pitchFamily="34" charset="-122"/>
                <a:cs typeface="Segoe UI" pitchFamily="34" charset="-120"/>
              </a:rPr>
              <a:t>slide 7</a:t>
            </a:r>
            <a:endParaRPr lang="en-US" sz="800" dirty="0"/>
          </a:p>
        </p:txBody>
      </p:sp>
      <p:sp>
        <p:nvSpPr>
          <p:cNvPr id="32" name="Shape 25"/>
          <p:cNvSpPr/>
          <p:nvPr/>
        </p:nvSpPr>
        <p:spPr>
          <a:xfrm>
            <a:off x="5486400" y="1828800"/>
            <a:ext cx="3291840" cy="566928"/>
          </a:xfrm>
          <a:prstGeom prst="roundRect">
            <a:avLst>
              <a:gd name="adj" fmla="val 9677"/>
            </a:avLst>
          </a:prstGeom>
          <a:solidFill>
            <a:srgbClr val="F4F6F9"/>
          </a:solidFill>
          <a:ln w="12700">
            <a:solidFill>
              <a:srgbClr val="F4F6F9"/>
            </a:solidFill>
            <a:prstDash val="solid"/>
          </a:ln>
        </p:spPr>
      </p:sp>
      <p:sp>
        <p:nvSpPr>
          <p:cNvPr id="33" name="Shape 26"/>
          <p:cNvSpPr/>
          <p:nvPr/>
        </p:nvSpPr>
        <p:spPr>
          <a:xfrm>
            <a:off x="5577840" y="1920240"/>
            <a:ext cx="384048" cy="384048"/>
          </a:xfrm>
          <a:prstGeom prst="ellipse">
            <a:avLst/>
          </a:prstGeom>
          <a:solidFill>
            <a:srgbClr val="F4F6F9"/>
          </a:solidFill>
          <a:ln w="12700">
            <a:solidFill>
              <a:srgbClr val="F4F6F9"/>
            </a:solidFill>
            <a:prstDash val="solid"/>
          </a:ln>
        </p:spPr>
      </p:sp>
      <p:pic>
        <p:nvPicPr>
          <p:cNvPr id="34" name="Image 5" descr="icons/navy_forecast.png">    </p:cNvPr>
          <p:cNvPicPr>
            <a:picLocks noChangeAspect="1"/>
          </p:cNvPicPr>
          <p:nvPr/>
        </p:nvPicPr>
        <p:blipFill>
          <a:blip r:embed="rId6"/>
          <a:stretch>
            <a:fillRect/>
          </a:stretch>
        </p:blipFill>
        <p:spPr>
          <a:xfrm>
            <a:off x="5677692" y="2020092"/>
            <a:ext cx="184343" cy="184343"/>
          </a:xfrm>
          <a:prstGeom prst="rect">
            <a:avLst/>
          </a:prstGeom>
        </p:spPr>
      </p:pic>
      <p:sp>
        <p:nvSpPr>
          <p:cNvPr id="35" name="Text 27"/>
          <p:cNvSpPr txBox="1"/>
          <p:nvPr/>
        </p:nvSpPr>
        <p:spPr>
          <a:xfrm>
            <a:off x="6053328" y="1828800"/>
            <a:ext cx="2697480" cy="566928"/>
          </a:xfrm>
          <a:prstGeom prst="rect">
            <a:avLst/>
          </a:prstGeom>
          <a:noFill/>
          <a:ln/>
        </p:spPr>
        <p:txBody>
          <a:bodyPr wrap="square" lIns="0" tIns="0" rIns="0" bIns="0" rtlCol="0" anchor="ctr"/>
          <a:lstStyle/>
          <a:p>
            <a:pPr indent="0" marL="0">
              <a:buNone/>
            </a:pPr>
            <a:r>
              <a:rPr lang="en-US" sz="1050" b="1" dirty="0">
                <a:solidFill>
                  <a:srgbClr val="17202B"/>
                </a:solidFill>
                <a:latin typeface="Segoe UI Semibold" pitchFamily="34" charset="0"/>
                <a:ea typeface="Segoe UI Semibold" pitchFamily="34" charset="-122"/>
                <a:cs typeface="Segoe UI Semibold" pitchFamily="34" charset="-120"/>
              </a:rPr>
              <a:t>2  Forecast</a:t>
            </a:r>
            <a:endParaRPr lang="en-US" sz="1050" dirty="0"/>
          </a:p>
          <a:p>
            <a:pPr indent="0" marL="0">
              <a:buNone/>
            </a:pPr>
            <a:r>
              <a:rPr lang="en-US" sz="850" dirty="0">
                <a:solidFill>
                  <a:srgbClr val="6B7785"/>
                </a:solidFill>
                <a:latin typeface="Segoe UI" pitchFamily="34" charset="0"/>
                <a:ea typeface="Segoe UI" pitchFamily="34" charset="-122"/>
                <a:cs typeface="Segoe UI" pitchFamily="34" charset="-120"/>
              </a:rPr>
              <a:t>Rebuild the numbers from drivers  ·  slide 8</a:t>
            </a:r>
            <a:endParaRPr lang="en-US" sz="1050" dirty="0"/>
          </a:p>
        </p:txBody>
      </p:sp>
      <p:sp>
        <p:nvSpPr>
          <p:cNvPr id="36" name="Shape 28"/>
          <p:cNvSpPr/>
          <p:nvPr/>
        </p:nvSpPr>
        <p:spPr>
          <a:xfrm>
            <a:off x="5486400" y="2468880"/>
            <a:ext cx="3291840" cy="566928"/>
          </a:xfrm>
          <a:prstGeom prst="roundRect">
            <a:avLst>
              <a:gd name="adj" fmla="val 9677"/>
            </a:avLst>
          </a:prstGeom>
          <a:solidFill>
            <a:srgbClr val="F4F6F9"/>
          </a:solidFill>
          <a:ln w="12700">
            <a:solidFill>
              <a:srgbClr val="F4F6F9"/>
            </a:solidFill>
            <a:prstDash val="solid"/>
          </a:ln>
        </p:spPr>
      </p:sp>
      <p:sp>
        <p:nvSpPr>
          <p:cNvPr id="37" name="Shape 29"/>
          <p:cNvSpPr/>
          <p:nvPr/>
        </p:nvSpPr>
        <p:spPr>
          <a:xfrm>
            <a:off x="5577840" y="2560320"/>
            <a:ext cx="384048" cy="384048"/>
          </a:xfrm>
          <a:prstGeom prst="ellipse">
            <a:avLst/>
          </a:prstGeom>
          <a:solidFill>
            <a:srgbClr val="F4F6F9"/>
          </a:solidFill>
          <a:ln w="12700">
            <a:solidFill>
              <a:srgbClr val="F4F6F9"/>
            </a:solidFill>
            <a:prstDash val="solid"/>
          </a:ln>
        </p:spPr>
      </p:sp>
      <p:pic>
        <p:nvPicPr>
          <p:cNvPr id="38" name="Image 6" descr="icons/navy_model.png">    </p:cNvPr>
          <p:cNvPicPr>
            <a:picLocks noChangeAspect="1"/>
          </p:cNvPicPr>
          <p:nvPr/>
        </p:nvPicPr>
        <p:blipFill>
          <a:blip r:embed="rId7"/>
          <a:stretch>
            <a:fillRect/>
          </a:stretch>
        </p:blipFill>
        <p:spPr>
          <a:xfrm>
            <a:off x="5677692" y="2660172"/>
            <a:ext cx="184343" cy="184343"/>
          </a:xfrm>
          <a:prstGeom prst="rect">
            <a:avLst/>
          </a:prstGeom>
        </p:spPr>
      </p:pic>
      <p:sp>
        <p:nvSpPr>
          <p:cNvPr id="39" name="Text 30"/>
          <p:cNvSpPr txBox="1"/>
          <p:nvPr/>
        </p:nvSpPr>
        <p:spPr>
          <a:xfrm>
            <a:off x="6053328" y="2468880"/>
            <a:ext cx="2697480" cy="566928"/>
          </a:xfrm>
          <a:prstGeom prst="rect">
            <a:avLst/>
          </a:prstGeom>
          <a:noFill/>
          <a:ln/>
        </p:spPr>
        <p:txBody>
          <a:bodyPr wrap="square" lIns="0" tIns="0" rIns="0" bIns="0" rtlCol="0" anchor="ctr"/>
          <a:lstStyle/>
          <a:p>
            <a:pPr indent="0" marL="0">
              <a:buNone/>
            </a:pPr>
            <a:r>
              <a:rPr lang="en-US" sz="1050" b="1" dirty="0">
                <a:solidFill>
                  <a:srgbClr val="17202B"/>
                </a:solidFill>
                <a:latin typeface="Segoe UI Semibold" pitchFamily="34" charset="0"/>
                <a:ea typeface="Segoe UI Semibold" pitchFamily="34" charset="-122"/>
                <a:cs typeface="Segoe UI Semibold" pitchFamily="34" charset="-120"/>
              </a:rPr>
              <a:t>3 + 4  Model and value</a:t>
            </a:r>
            <a:endParaRPr lang="en-US" sz="1050" dirty="0"/>
          </a:p>
          <a:p>
            <a:pPr indent="0" marL="0">
              <a:buNone/>
            </a:pPr>
            <a:r>
              <a:rPr lang="en-US" sz="850" dirty="0">
                <a:solidFill>
                  <a:srgbClr val="6B7785"/>
                </a:solidFill>
                <a:latin typeface="Segoe UI" pitchFamily="34" charset="0"/>
                <a:ea typeface="Segoe UI" pitchFamily="34" charset="-122"/>
                <a:cs typeface="Segoe UI" pitchFamily="34" charset="-120"/>
              </a:rPr>
              <a:t>How a DCF works, then Borusan  ·  slides 9, 10</a:t>
            </a:r>
            <a:endParaRPr lang="en-US" sz="1050" dirty="0"/>
          </a:p>
        </p:txBody>
      </p:sp>
      <p:sp>
        <p:nvSpPr>
          <p:cNvPr id="40" name="Shape 31"/>
          <p:cNvSpPr/>
          <p:nvPr/>
        </p:nvSpPr>
        <p:spPr>
          <a:xfrm>
            <a:off x="5486400" y="3108960"/>
            <a:ext cx="3291840" cy="566928"/>
          </a:xfrm>
          <a:prstGeom prst="roundRect">
            <a:avLst>
              <a:gd name="adj" fmla="val 9677"/>
            </a:avLst>
          </a:prstGeom>
          <a:solidFill>
            <a:srgbClr val="F4F6F9"/>
          </a:solidFill>
          <a:ln w="12700">
            <a:solidFill>
              <a:srgbClr val="F4F6F9"/>
            </a:solidFill>
            <a:prstDash val="solid"/>
          </a:ln>
        </p:spPr>
      </p:sp>
      <p:sp>
        <p:nvSpPr>
          <p:cNvPr id="41" name="Shape 32"/>
          <p:cNvSpPr/>
          <p:nvPr/>
        </p:nvSpPr>
        <p:spPr>
          <a:xfrm>
            <a:off x="5577840" y="3200400"/>
            <a:ext cx="384048" cy="384048"/>
          </a:xfrm>
          <a:prstGeom prst="ellipse">
            <a:avLst/>
          </a:prstGeom>
          <a:solidFill>
            <a:srgbClr val="F4F6F9"/>
          </a:solidFill>
          <a:ln w="12700">
            <a:solidFill>
              <a:srgbClr val="F4F6F9"/>
            </a:solidFill>
            <a:prstDash val="solid"/>
          </a:ln>
        </p:spPr>
      </p:sp>
      <p:pic>
        <p:nvPicPr>
          <p:cNvPr id="42" name="Image 7" descr="icons/navy_market.png">    </p:cNvPr>
          <p:cNvPicPr>
            <a:picLocks noChangeAspect="1"/>
          </p:cNvPicPr>
          <p:nvPr/>
        </p:nvPicPr>
        <p:blipFill>
          <a:blip r:embed="rId8"/>
          <a:stretch>
            <a:fillRect/>
          </a:stretch>
        </p:blipFill>
        <p:spPr>
          <a:xfrm>
            <a:off x="5677692" y="3300252"/>
            <a:ext cx="184343" cy="184343"/>
          </a:xfrm>
          <a:prstGeom prst="rect">
            <a:avLst/>
          </a:prstGeom>
        </p:spPr>
      </p:pic>
      <p:sp>
        <p:nvSpPr>
          <p:cNvPr id="43" name="Text 33"/>
          <p:cNvSpPr txBox="1"/>
          <p:nvPr/>
        </p:nvSpPr>
        <p:spPr>
          <a:xfrm>
            <a:off x="6053328" y="3108960"/>
            <a:ext cx="2697480" cy="566928"/>
          </a:xfrm>
          <a:prstGeom prst="rect">
            <a:avLst/>
          </a:prstGeom>
          <a:noFill/>
          <a:ln/>
        </p:spPr>
        <p:txBody>
          <a:bodyPr wrap="square" lIns="0" tIns="0" rIns="0" bIns="0" rtlCol="0" anchor="ctr"/>
          <a:lstStyle/>
          <a:p>
            <a:pPr indent="0" marL="0">
              <a:buNone/>
            </a:pPr>
            <a:r>
              <a:rPr lang="en-US" sz="1050" b="1" dirty="0">
                <a:solidFill>
                  <a:srgbClr val="17202B"/>
                </a:solidFill>
                <a:latin typeface="Segoe UI Semibold" pitchFamily="34" charset="0"/>
                <a:ea typeface="Segoe UI Semibold" pitchFamily="34" charset="-122"/>
                <a:cs typeface="Segoe UI Semibold" pitchFamily="34" charset="-120"/>
              </a:rPr>
              <a:t>5  Conclude</a:t>
            </a:r>
            <a:endParaRPr lang="en-US" sz="1050" dirty="0"/>
          </a:p>
          <a:p>
            <a:pPr indent="0" marL="0">
              <a:buNone/>
            </a:pPr>
            <a:r>
              <a:rPr lang="en-US" sz="850" dirty="0">
                <a:solidFill>
                  <a:srgbClr val="6B7785"/>
                </a:solidFill>
                <a:latin typeface="Segoe UI" pitchFamily="34" charset="0"/>
                <a:ea typeface="Segoe UI" pitchFamily="34" charset="-122"/>
                <a:cs typeface="Segoe UI" pitchFamily="34" charset="-120"/>
              </a:rPr>
              <a:t>What the price assumes  ·  slide 11</a:t>
            </a:r>
            <a:endParaRPr lang="en-US" sz="1050" dirty="0"/>
          </a:p>
        </p:txBody>
      </p:sp>
      <p:sp>
        <p:nvSpPr>
          <p:cNvPr id="44" name="Text 34"/>
          <p:cNvSpPr txBox="1"/>
          <p:nvPr/>
        </p:nvSpPr>
        <p:spPr>
          <a:xfrm>
            <a:off x="457200" y="3840480"/>
            <a:ext cx="8321040" cy="274320"/>
          </a:xfrm>
          <a:prstGeom prst="rect">
            <a:avLst/>
          </a:prstGeom>
          <a:noFill/>
          <a:ln/>
        </p:spPr>
        <p:txBody>
          <a:bodyPr wrap="square" lIns="0" tIns="0" rIns="0" bIns="0" rtlCol="0" anchor="ctr"/>
          <a:lstStyle/>
          <a:p>
            <a:pPr indent="0" marL="0">
              <a:buNone/>
            </a:pPr>
            <a:r>
              <a:rPr lang="en-US" sz="1000" b="1" dirty="0">
                <a:solidFill>
                  <a:srgbClr val="E8692C"/>
                </a:solidFill>
                <a:latin typeface="Segoe UI" pitchFamily="34" charset="0"/>
                <a:ea typeface="Segoe UI" pitchFamily="34" charset="-122"/>
                <a:cs typeface="Segoe UI" pitchFamily="34" charset="-120"/>
              </a:rPr>
              <a:t>EM +</a:t>
            </a:r>
            <a:pPr indent="0" marL="0">
              <a:buNone/>
            </a:pPr>
            <a:r>
              <a:rPr lang="en-US" sz="1000" dirty="0">
                <a:solidFill>
                  <a:srgbClr val="6B7785"/>
                </a:solidFill>
                <a:latin typeface="Segoe UI" pitchFamily="34" charset="0"/>
                <a:ea typeface="Segoe UI" pitchFamily="34" charset="-122"/>
                <a:cs typeface="Segoe UI" pitchFamily="34" charset="-120"/>
              </a:rPr>
              <a:t>  my two additions for emerging markets.  Slide 12 brings it together.  Appendix: WACC, the math, jury questions.</a:t>
            </a:r>
            <a:endParaRPr lang="en-US" sz="1000" dirty="0"/>
          </a:p>
        </p:txBody>
      </p:sp>
      <p:sp>
        <p:nvSpPr>
          <p:cNvPr id="45" name="Text 35"/>
          <p:cNvSpPr txBox="1"/>
          <p:nvPr/>
        </p:nvSpPr>
        <p:spPr>
          <a:xfrm>
            <a:off x="457200" y="4133088"/>
            <a:ext cx="8321040" cy="274320"/>
          </a:xfrm>
          <a:prstGeom prst="rect">
            <a:avLst/>
          </a:prstGeom>
          <a:noFill/>
          <a:ln/>
        </p:spPr>
        <p:txBody>
          <a:bodyPr wrap="square" lIns="0" tIns="0" rIns="0" bIns="0" rtlCol="0" anchor="ctr"/>
          <a:lstStyle/>
          <a:p>
            <a:pPr indent="0" marL="0">
              <a:buNone/>
            </a:pPr>
            <a:r>
              <a:rPr lang="en-US" sz="1050" i="1" dirty="0">
                <a:solidFill>
                  <a:srgbClr val="17202B"/>
                </a:solidFill>
                <a:latin typeface="Segoe UI" pitchFamily="34" charset="0"/>
                <a:ea typeface="Segoe UI" pitchFamily="34" charset="-122"/>
                <a:cs typeface="Segoe UI" pitchFamily="34" charset="-120"/>
              </a:rPr>
              <a:t>Price comes at step four, not step one. Most mistakes happen before the spreadsheet opens.</a:t>
            </a:r>
            <a:endParaRPr lang="en-US" sz="1050" dirty="0"/>
          </a:p>
        </p:txBody>
      </p:sp>
      <p:sp>
        <p:nvSpPr>
          <p:cNvPr id="46" name="Text 36"/>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Process: CFA Institute, Equity Valuation: Applications and Processes (refresher reading, 2026): understand the business, forecast performance, select the model, convert forecasts to a valuation, apply the conclusions.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BEFORE WE START</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The toolbox: the business decides the method</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3</a:t>
            </a:r>
            <a:endParaRPr lang="en-US" sz="900" dirty="0"/>
          </a:p>
        </p:txBody>
      </p:sp>
      <p:sp>
        <p:nvSpPr>
          <p:cNvPr id="5" name="Text 3"/>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6" name="Shape 4"/>
          <p:cNvSpPr/>
          <p:nvPr/>
        </p:nvSpPr>
        <p:spPr>
          <a:xfrm>
            <a:off x="457200" y="1188720"/>
            <a:ext cx="2706624" cy="1005840"/>
          </a:xfrm>
          <a:prstGeom prst="roundRect">
            <a:avLst>
              <a:gd name="adj" fmla="val 5455"/>
            </a:avLst>
          </a:prstGeom>
          <a:solidFill>
            <a:srgbClr val="F4F6F9"/>
          </a:solidFill>
          <a:ln w="12700">
            <a:solidFill>
              <a:srgbClr val="F4F6F9"/>
            </a:solidFill>
            <a:prstDash val="solid"/>
          </a:ln>
        </p:spPr>
      </p:sp>
      <p:sp>
        <p:nvSpPr>
          <p:cNvPr id="7" name="Text 5"/>
          <p:cNvSpPr txBox="1"/>
          <p:nvPr/>
        </p:nvSpPr>
        <p:spPr>
          <a:xfrm>
            <a:off x="594360" y="1225296"/>
            <a:ext cx="2468880" cy="932688"/>
          </a:xfrm>
          <a:prstGeom prst="rect">
            <a:avLst/>
          </a:prstGeom>
          <a:noFill/>
          <a:ln/>
        </p:spPr>
        <p:txBody>
          <a:bodyPr wrap="square" lIns="0" tIns="0" rIns="0" bIns="0" rtlCol="0" anchor="t"/>
          <a:lstStyle/>
          <a:p>
            <a:pPr indent="0" marL="0">
              <a:spcAft>
                <a:spcPts val="200"/>
              </a:spcAft>
              <a:buNone/>
            </a:pPr>
            <a:r>
              <a:rPr lang="en-US" sz="1300" b="1" dirty="0">
                <a:solidFill>
                  <a:srgbClr val="2B7A78"/>
                </a:solidFill>
                <a:latin typeface="Segoe UI Semibold" pitchFamily="34" charset="0"/>
                <a:ea typeface="Segoe UI Semibold" pitchFamily="34" charset="-122"/>
                <a:cs typeface="Segoe UI Semibold" pitchFamily="34" charset="-120"/>
              </a:rPr>
              <a:t>Intrinsic</a:t>
            </a:r>
            <a:endParaRPr lang="en-US" sz="1300" dirty="0"/>
          </a:p>
          <a:p>
            <a:pPr indent="0" marL="0">
              <a:spcAft>
                <a:spcPts val="200"/>
              </a:spcAft>
              <a:buNone/>
            </a:pPr>
            <a:r>
              <a:rPr lang="en-US" sz="1000" b="1" dirty="0">
                <a:solidFill>
                  <a:srgbClr val="17202B"/>
                </a:solidFill>
                <a:latin typeface="Segoe UI" pitchFamily="34" charset="0"/>
                <a:ea typeface="Segoe UI" pitchFamily="34" charset="-122"/>
                <a:cs typeface="Segoe UI" pitchFamily="34" charset="-120"/>
              </a:rPr>
              <a:t>What is it worth on its own cash?</a:t>
            </a:r>
            <a:endParaRPr lang="en-US" sz="1300" dirty="0"/>
          </a:p>
          <a:p>
            <a:pPr indent="0" marL="0">
              <a:spcAft>
                <a:spcPts val="200"/>
              </a:spcAft>
              <a:buNone/>
            </a:pPr>
            <a:r>
              <a:rPr lang="en-US" sz="900" dirty="0">
                <a:solidFill>
                  <a:srgbClr val="6B7785"/>
                </a:solidFill>
                <a:latin typeface="Segoe UI" pitchFamily="34" charset="0"/>
                <a:ea typeface="Segoe UI" pitchFamily="34" charset="-122"/>
                <a:cs typeface="Segoe UI" pitchFamily="34" charset="-120"/>
              </a:rPr>
              <a:t>Discounted cash flow (DCF), dividend model, residual income</a:t>
            </a:r>
            <a:endParaRPr lang="en-US" sz="1300" dirty="0"/>
          </a:p>
        </p:txBody>
      </p:sp>
      <p:sp>
        <p:nvSpPr>
          <p:cNvPr id="8" name="Shape 6"/>
          <p:cNvSpPr/>
          <p:nvPr/>
        </p:nvSpPr>
        <p:spPr>
          <a:xfrm>
            <a:off x="3264408" y="1188720"/>
            <a:ext cx="2706624" cy="1005840"/>
          </a:xfrm>
          <a:prstGeom prst="roundRect">
            <a:avLst>
              <a:gd name="adj" fmla="val 5455"/>
            </a:avLst>
          </a:prstGeom>
          <a:solidFill>
            <a:srgbClr val="F4F6F9"/>
          </a:solidFill>
          <a:ln w="12700">
            <a:solidFill>
              <a:srgbClr val="F4F6F9"/>
            </a:solidFill>
            <a:prstDash val="solid"/>
          </a:ln>
        </p:spPr>
      </p:sp>
      <p:sp>
        <p:nvSpPr>
          <p:cNvPr id="9" name="Text 7"/>
          <p:cNvSpPr txBox="1"/>
          <p:nvPr/>
        </p:nvSpPr>
        <p:spPr>
          <a:xfrm>
            <a:off x="3401568" y="1225296"/>
            <a:ext cx="2468880" cy="932688"/>
          </a:xfrm>
          <a:prstGeom prst="rect">
            <a:avLst/>
          </a:prstGeom>
          <a:noFill/>
          <a:ln/>
        </p:spPr>
        <p:txBody>
          <a:bodyPr wrap="square" lIns="0" tIns="0" rIns="0" bIns="0" rtlCol="0" anchor="t"/>
          <a:lstStyle/>
          <a:p>
            <a:pPr indent="0" marL="0">
              <a:spcAft>
                <a:spcPts val="200"/>
              </a:spcAft>
              <a:buNone/>
            </a:pPr>
            <a:r>
              <a:rPr lang="en-US" sz="1300" b="1" dirty="0">
                <a:solidFill>
                  <a:srgbClr val="4A5A6B"/>
                </a:solidFill>
                <a:latin typeface="Segoe UI Semibold" pitchFamily="34" charset="0"/>
                <a:ea typeface="Segoe UI Semibold" pitchFamily="34" charset="-122"/>
                <a:cs typeface="Segoe UI Semibold" pitchFamily="34" charset="-120"/>
              </a:rPr>
              <a:t>Relative</a:t>
            </a:r>
            <a:endParaRPr lang="en-US" sz="1300" dirty="0"/>
          </a:p>
          <a:p>
            <a:pPr indent="0" marL="0">
              <a:spcAft>
                <a:spcPts val="200"/>
              </a:spcAft>
              <a:buNone/>
            </a:pPr>
            <a:r>
              <a:rPr lang="en-US" sz="1000" b="1" dirty="0">
                <a:solidFill>
                  <a:srgbClr val="17202B"/>
                </a:solidFill>
                <a:latin typeface="Segoe UI" pitchFamily="34" charset="0"/>
                <a:ea typeface="Segoe UI" pitchFamily="34" charset="-122"/>
                <a:cs typeface="Segoe UI" pitchFamily="34" charset="-120"/>
              </a:rPr>
              <a:t>What are similar companies priced at?</a:t>
            </a:r>
            <a:endParaRPr lang="en-US" sz="1300" dirty="0"/>
          </a:p>
          <a:p>
            <a:pPr indent="0" marL="0">
              <a:spcAft>
                <a:spcPts val="200"/>
              </a:spcAft>
              <a:buNone/>
            </a:pPr>
            <a:r>
              <a:rPr lang="en-US" sz="900" dirty="0">
                <a:solidFill>
                  <a:srgbClr val="6B7785"/>
                </a:solidFill>
                <a:latin typeface="Segoe UI" pitchFamily="34" charset="0"/>
                <a:ea typeface="Segoe UI" pitchFamily="34" charset="-122"/>
                <a:cs typeface="Segoe UI" pitchFamily="34" charset="-120"/>
              </a:rPr>
              <a:t>EV/EBITDA, P/E, price to book</a:t>
            </a:r>
            <a:endParaRPr lang="en-US" sz="1300" dirty="0"/>
          </a:p>
        </p:txBody>
      </p:sp>
      <p:sp>
        <p:nvSpPr>
          <p:cNvPr id="10" name="Shape 8"/>
          <p:cNvSpPr/>
          <p:nvPr/>
        </p:nvSpPr>
        <p:spPr>
          <a:xfrm>
            <a:off x="6071616" y="1188720"/>
            <a:ext cx="2706624" cy="1005840"/>
          </a:xfrm>
          <a:prstGeom prst="roundRect">
            <a:avLst>
              <a:gd name="adj" fmla="val 5455"/>
            </a:avLst>
          </a:prstGeom>
          <a:solidFill>
            <a:srgbClr val="F4F6F9"/>
          </a:solidFill>
          <a:ln w="12700">
            <a:solidFill>
              <a:srgbClr val="F4F6F9"/>
            </a:solidFill>
            <a:prstDash val="solid"/>
          </a:ln>
        </p:spPr>
      </p:sp>
      <p:sp>
        <p:nvSpPr>
          <p:cNvPr id="11" name="Text 9"/>
          <p:cNvSpPr txBox="1"/>
          <p:nvPr/>
        </p:nvSpPr>
        <p:spPr>
          <a:xfrm>
            <a:off x="6208776" y="1225296"/>
            <a:ext cx="2468880" cy="932688"/>
          </a:xfrm>
          <a:prstGeom prst="rect">
            <a:avLst/>
          </a:prstGeom>
          <a:noFill/>
          <a:ln/>
        </p:spPr>
        <p:txBody>
          <a:bodyPr wrap="square" lIns="0" tIns="0" rIns="0" bIns="0" rtlCol="0" anchor="t"/>
          <a:lstStyle/>
          <a:p>
            <a:pPr indent="0" marL="0">
              <a:spcAft>
                <a:spcPts val="200"/>
              </a:spcAft>
              <a:buNone/>
            </a:pPr>
            <a:r>
              <a:rPr lang="en-US" sz="1300" b="1" dirty="0">
                <a:solidFill>
                  <a:srgbClr val="6B7785"/>
                </a:solidFill>
                <a:latin typeface="Segoe UI Semibold" pitchFamily="34" charset="0"/>
                <a:ea typeface="Segoe UI Semibold" pitchFamily="34" charset="-122"/>
                <a:cs typeface="Segoe UI Semibold" pitchFamily="34" charset="-120"/>
              </a:rPr>
              <a:t>Asset based</a:t>
            </a:r>
            <a:endParaRPr lang="en-US" sz="1300" dirty="0"/>
          </a:p>
          <a:p>
            <a:pPr indent="0" marL="0">
              <a:spcAft>
                <a:spcPts val="200"/>
              </a:spcAft>
              <a:buNone/>
            </a:pPr>
            <a:r>
              <a:rPr lang="en-US" sz="1000" b="1" dirty="0">
                <a:solidFill>
                  <a:srgbClr val="17202B"/>
                </a:solidFill>
                <a:latin typeface="Segoe UI" pitchFamily="34" charset="0"/>
                <a:ea typeface="Segoe UI" pitchFamily="34" charset="-122"/>
                <a:cs typeface="Segoe UI" pitchFamily="34" charset="-120"/>
              </a:rPr>
              <a:t>What are the pieces worth?</a:t>
            </a:r>
            <a:endParaRPr lang="en-US" sz="1300" dirty="0"/>
          </a:p>
          <a:p>
            <a:pPr indent="0" marL="0">
              <a:spcAft>
                <a:spcPts val="200"/>
              </a:spcAft>
              <a:buNone/>
            </a:pPr>
            <a:r>
              <a:rPr lang="en-US" sz="900" dirty="0">
                <a:solidFill>
                  <a:srgbClr val="6B7785"/>
                </a:solidFill>
                <a:latin typeface="Segoe UI" pitchFamily="34" charset="0"/>
                <a:ea typeface="Segoe UI" pitchFamily="34" charset="-122"/>
                <a:cs typeface="Segoe UI" pitchFamily="34" charset="-120"/>
              </a:rPr>
              <a:t>Net asset value (NAV), sum of the parts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8321040" cy="914400"/>
        </p:xfrm>
        <a:graphic>
          <a:graphicData uri="http://schemas.openxmlformats.org/drawingml/2006/table">
            <a:tbl>
              <a:tblPr/>
              <a:tblGrid>
                <a:gridCol w="2377440"/>
                <a:gridCol w="2377440"/>
                <a:gridCol w="3566160"/>
              </a:tblGrid>
              <a:tr h="246888">
                <a:tc>
                  <a:txBody>
                    <a:bodyPr/>
                    <a:lstStyle/>
                    <a:p>
                      <a:pPr indent="0" marL="0">
                        <a:buNone/>
                      </a:pPr>
                      <a:r>
                        <a:rPr lang="en-US" sz="850" b="1" dirty="0">
                          <a:solidFill>
                            <a:srgbClr val="6B7785"/>
                          </a:solidFill>
                          <a:latin typeface="Segoe UI" pitchFamily="34" charset="0"/>
                          <a:ea typeface="Segoe UI" pitchFamily="34" charset="-122"/>
                          <a:cs typeface="Segoe UI" pitchFamily="34" charset="-120"/>
                        </a:rPr>
                        <a:t>Company type</a:t>
                      </a:r>
                      <a:endParaRPr lang="en-US" sz="8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850" b="1" dirty="0">
                          <a:solidFill>
                            <a:srgbClr val="6B7785"/>
                          </a:solidFill>
                          <a:latin typeface="Segoe UI" pitchFamily="34" charset="0"/>
                          <a:ea typeface="Segoe UI" pitchFamily="34" charset="-122"/>
                          <a:cs typeface="Segoe UI" pitchFamily="34" charset="-120"/>
                        </a:rPr>
                        <a:t>Main method</a:t>
                      </a:r>
                      <a:endParaRPr lang="en-US" sz="8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850" b="1" dirty="0">
                          <a:solidFill>
                            <a:srgbClr val="6B7785"/>
                          </a:solidFill>
                          <a:latin typeface="Segoe UI" pitchFamily="34" charset="0"/>
                          <a:ea typeface="Segoe UI" pitchFamily="34" charset="-122"/>
                          <a:cs typeface="Segoe UI" pitchFamily="34" charset="-120"/>
                        </a:rPr>
                        <a:t>Why</a:t>
                      </a:r>
                      <a:endParaRPr lang="en-US" sz="8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r>
              <a:tr h="246888">
                <a:tc>
                  <a:txBody>
                    <a:bodyPr/>
                    <a:lstStyle/>
                    <a:p>
                      <a:pPr indent="0" marL="0">
                        <a:buNone/>
                      </a:pPr>
                      <a:r>
                        <a:rPr lang="en-US" sz="950" b="1" dirty="0">
                          <a:solidFill>
                            <a:srgbClr val="17202B"/>
                          </a:solidFill>
                          <a:latin typeface="Segoe UI" pitchFamily="34" charset="0"/>
                          <a:ea typeface="Segoe UI" pitchFamily="34" charset="-122"/>
                          <a:cs typeface="Segoe UI" pitchFamily="34" charset="-120"/>
                        </a:rPr>
                        <a:t>Cash generating industrial  (Borusan)</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BEDE5"/>
                    </a:solidFill>
                  </a:tcPr>
                </a:tc>
                <a:tc>
                  <a:txBody>
                    <a:bodyPr/>
                    <a:lstStyle/>
                    <a:p>
                      <a:pPr indent="0" marL="0">
                        <a:buNone/>
                      </a:pPr>
                      <a:r>
                        <a:rPr lang="en-US" sz="950" b="1" dirty="0">
                          <a:solidFill>
                            <a:srgbClr val="17202B"/>
                          </a:solidFill>
                          <a:latin typeface="Segoe UI" pitchFamily="34" charset="0"/>
                          <a:ea typeface="Segoe UI" pitchFamily="34" charset="-122"/>
                          <a:cs typeface="Segoe UI" pitchFamily="34" charset="-120"/>
                        </a:rPr>
                        <a:t>DCF, checked with EV/EBITDA</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BEDE5"/>
                    </a:solidFill>
                  </a:tcPr>
                </a:tc>
                <a:tc>
                  <a:txBody>
                    <a:bodyPr/>
                    <a:lstStyle/>
                    <a:p>
                      <a:pPr indent="0" marL="0">
                        <a:buNone/>
                      </a:pPr>
                      <a:r>
                        <a:rPr lang="en-US" sz="950" dirty="0">
                          <a:solidFill>
                            <a:srgbClr val="17202B"/>
                          </a:solidFill>
                          <a:latin typeface="Segoe UI" pitchFamily="34" charset="0"/>
                          <a:ea typeface="Segoe UI" pitchFamily="34" charset="-122"/>
                          <a:cs typeface="Segoe UI" pitchFamily="34" charset="-120"/>
                        </a:rPr>
                        <a:t>Value comes from cash; profit is distorted by inflation accounting</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BEDE5"/>
                    </a:solidFill>
                  </a:tcPr>
                </a:tc>
              </a:tr>
              <a:tr h="246888">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Bank or insurer</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Dividend model, price to book</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Debt is raw material, so free cash flow is not meaningful</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Holding company</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Net asset value with a holding discount</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Value sits in the listed stakes it owns</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Young company, no profit yet</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EV/Sales, scenario DCF</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c>
                  <a:txBody>
                    <a:bodyPr/>
                    <a:lstStyle/>
                    <a:p>
                      <a:pPr indent="0" marL="0">
                        <a:buNone/>
                      </a:pPr>
                      <a:r>
                        <a:rPr lang="en-US" sz="950" dirty="0">
                          <a:solidFill>
                            <a:srgbClr val="6B7785"/>
                          </a:solidFill>
                          <a:latin typeface="Segoe UI" pitchFamily="34" charset="0"/>
                          <a:ea typeface="Segoe UI" pitchFamily="34" charset="-122"/>
                          <a:cs typeface="Segoe UI" pitchFamily="34" charset="-120"/>
                        </a:rPr>
                        <a:t>No earnings to multiply; value depends on scenarios</a:t>
                      </a:r>
                      <a:endParaRPr lang="en-US" sz="950" dirty="0">
                        <a:latin typeface="Segoe UI" charset="0"/>
                        <a:ea typeface="Segoe UI" charset="0"/>
                        <a:cs typeface="Segoe UI" charset="0"/>
                      </a:endParaRPr>
                    </a:p>
                  </a:txBody>
                  <a:tcPr marL="91440" marR="91440" marT="45720" marB="45720" anchor="ctr">
                    <a:lnL w="6350" cap="flat" cmpd="sng" algn="ctr">
                      <a:solidFill>
                        <a:srgbClr val="E2E6EB"/>
                      </a:solidFill>
                      <a:prstDash val="solid"/>
                      <a:round/>
                      <a:headEnd type="none" w="med" len="med"/>
                      <a:tailEnd type="none" w="med" len="med"/>
                    </a:lnL>
                    <a:lnR w="6350" cap="flat" cmpd="sng" algn="ctr">
                      <a:solidFill>
                        <a:srgbClr val="E2E6EB"/>
                      </a:solidFill>
                      <a:prstDash val="solid"/>
                      <a:round/>
                      <a:headEnd type="none" w="med" len="med"/>
                      <a:tailEnd type="none" w="med" len="med"/>
                    </a:lnR>
                    <a:lnT w="6350" cap="flat" cmpd="sng" algn="ctr">
                      <a:solidFill>
                        <a:srgbClr val="E2E6EB"/>
                      </a:solidFill>
                      <a:prstDash val="solid"/>
                      <a:round/>
                      <a:headEnd type="none" w="med" len="med"/>
                      <a:tailEnd type="none" w="med" len="med"/>
                    </a:lnT>
                    <a:lnB w="6350" cap="flat" cmpd="sng" algn="ctr">
                      <a:solidFill>
                        <a:srgbClr val="E2E6EB"/>
                      </a:solidFill>
                      <a:prstDash val="solid"/>
                      <a:round/>
                      <a:headEnd type="none" w="med" len="med"/>
                      <a:tailEnd type="none" w="med" len="med"/>
                    </a:lnB>
                    <a:solidFill>
                      <a:srgbClr val="FFFFFF"/>
                    </a:solidFill>
                  </a:tcPr>
                </a:tc>
              </a:tr>
            </a:tbl>
          </a:graphicData>
        </a:graphic>
      </p:graphicFrame>
      <p:sp>
        <p:nvSpPr>
          <p:cNvPr id="13" name="Shape 10"/>
          <p:cNvSpPr/>
          <p:nvPr/>
        </p:nvSpPr>
        <p:spPr>
          <a:xfrm>
            <a:off x="457200" y="3986784"/>
            <a:ext cx="100584" cy="100584"/>
          </a:xfrm>
          <a:prstGeom prst="rect">
            <a:avLst/>
          </a:prstGeom>
          <a:solidFill>
            <a:srgbClr val="E8692C"/>
          </a:solidFill>
          <a:ln w="12700">
            <a:solidFill>
              <a:srgbClr val="E8692C"/>
            </a:solidFill>
            <a:prstDash val="solid"/>
          </a:ln>
        </p:spPr>
      </p:sp>
      <p:sp>
        <p:nvSpPr>
          <p:cNvPr id="14" name="Text 11"/>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No method is right in general. For Borusan, cash and two different country risks point to a DCF split by geography, checked with multiples.</a:t>
            </a:r>
            <a:endParaRPr lang="en-US" sz="1150" dirty="0"/>
          </a:p>
        </p:txBody>
      </p:sp>
      <p:sp>
        <p:nvSpPr>
          <p:cNvPr id="15" name="Text 12"/>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Framework: CFA Institute, Equity Valuation: Applications and Processes (absolute, relative and sum of the parts models). Company type examples are general practice.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1 · COUNTRY  ·  EM STEP</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The world charges Türkiye twice Germany's risk premium</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4</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b="1" dirty="0">
                <a:solidFill>
                  <a:srgbClr val="17202B"/>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country.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Choose one currency first. Keep every rate and growth number in it.</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Charge country risk only to the cash flows that really carry it.</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EQUITY RISK PREMIUM BY COUNTRY, %</a:t>
            </a:r>
            <a:endParaRPr lang="en-US" sz="800" dirty="0"/>
          </a:p>
        </p:txBody>
      </p:sp>
      <p:graphicFrame>
        <p:nvGraphicFramePr>
          <p:cNvPr id="12" name="Chart 0" descr=""/>
          <p:cNvGraphicFramePr/>
          <p:nvPr/>
        </p:nvGraphicFramePr>
        <p:xfrm>
          <a:off x="4206240" y="1371600"/>
          <a:ext cx="4572000" cy="242316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457200" y="3986784"/>
            <a:ext cx="100584" cy="100584"/>
          </a:xfrm>
          <a:prstGeom prst="rect">
            <a:avLst/>
          </a:prstGeom>
          <a:solidFill>
            <a:srgbClr val="E8692C"/>
          </a:solidFill>
          <a:ln w="12700">
            <a:solidFill>
              <a:srgbClr val="E8692C"/>
            </a:solidFill>
            <a:prstDash val="solid"/>
          </a:ln>
        </p:spPr>
      </p:sp>
      <p:sp>
        <p:nvSpPr>
          <p:cNvPr id="14" name="Text 10"/>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Risk follows the factory, not the ticker. Borusan is listed in Istanbul, but 85% of its revenue comes from outside Türkiye. Its US plants should not pay a Turkish risk premium.</a:t>
            </a:r>
            <a:endParaRPr lang="en-US" sz="1150" dirty="0"/>
          </a:p>
        </p:txBody>
      </p:sp>
      <p:sp>
        <p:nvSpPr>
          <p:cNvPr id="15" name="Text 11"/>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Source: Damodaran, Country Default Spreads and Risk Premiums, January 2026 update (Türkiye row updated February 2026). Teal: developed, grey: emerging. Revenue split: Borusan Boru 2Q26 investor presentation.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1 · SECTOR AND BUSINESS</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A Turkish listing, an American business</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5</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b="1" dirty="0">
                <a:solidFill>
                  <a:srgbClr val="17202B"/>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sector.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Read the sector's own numbers: order book, steel spread, capacity.</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Know the policy that shapes demand: tariffs, energy, infrastructure.</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Follow the money: segment, country, contract type.</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1H26 REVENUE BY SEGMENT</a:t>
            </a:r>
            <a:endParaRPr lang="en-US" sz="800" dirty="0"/>
          </a:p>
        </p:txBody>
      </p:sp>
      <p:graphicFrame>
        <p:nvGraphicFramePr>
          <p:cNvPr id="12" name="Chart 0" descr=""/>
          <p:cNvGraphicFramePr/>
          <p:nvPr/>
        </p:nvGraphicFramePr>
        <p:xfrm>
          <a:off x="4206240" y="1371600"/>
          <a:ext cx="2514600" cy="242316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6858000" y="1325880"/>
            <a:ext cx="1920240" cy="914400"/>
          </a:xfrm>
          <a:prstGeom prst="rect">
            <a:avLst/>
          </a:prstGeom>
          <a:noFill/>
          <a:ln/>
        </p:spPr>
        <p:txBody>
          <a:bodyPr wrap="square" lIns="0" tIns="0" rIns="0" bIns="0" rtlCol="0" anchor="t"/>
          <a:lstStyle/>
          <a:p>
            <a:pPr indent="0" marL="0">
              <a:buNone/>
            </a:pPr>
            <a:r>
              <a:rPr lang="en-US" sz="2200" b="1" dirty="0">
                <a:solidFill>
                  <a:srgbClr val="E8692C"/>
                </a:solidFill>
                <a:latin typeface="Segoe UI Semibold" pitchFamily="34" charset="0"/>
                <a:ea typeface="Segoe UI Semibold" pitchFamily="34" charset="-122"/>
                <a:cs typeface="Segoe UI Semibold" pitchFamily="34" charset="-120"/>
              </a:rPr>
              <a:t>79%</a:t>
            </a:r>
            <a:endParaRPr lang="en-US" sz="2200" dirty="0"/>
          </a:p>
          <a:p>
            <a:pPr indent="0" marL="0">
              <a:buNone/>
            </a:pPr>
            <a:r>
              <a:rPr lang="en-US" sz="950" dirty="0">
                <a:solidFill>
                  <a:srgbClr val="6B7785"/>
                </a:solidFill>
                <a:latin typeface="Segoe UI" pitchFamily="34" charset="0"/>
                <a:ea typeface="Segoe UI" pitchFamily="34" charset="-122"/>
                <a:cs typeface="Segoe UI" pitchFamily="34" charset="-120"/>
              </a:rPr>
              <a:t>of revenue from the US</a:t>
            </a:r>
            <a:endParaRPr lang="en-US" sz="2200" dirty="0"/>
          </a:p>
        </p:txBody>
      </p:sp>
      <p:sp>
        <p:nvSpPr>
          <p:cNvPr id="14" name="Text 10"/>
          <p:cNvSpPr txBox="1"/>
          <p:nvPr/>
        </p:nvSpPr>
        <p:spPr>
          <a:xfrm>
            <a:off x="6858000" y="2148840"/>
            <a:ext cx="1920240" cy="914400"/>
          </a:xfrm>
          <a:prstGeom prst="rect">
            <a:avLst/>
          </a:prstGeom>
          <a:noFill/>
          <a:ln/>
        </p:spPr>
        <p:txBody>
          <a:bodyPr wrap="square" lIns="0" tIns="0" rIns="0" bIns="0" rtlCol="0" anchor="t"/>
          <a:lstStyle/>
          <a:p>
            <a:pPr indent="0" marL="0">
              <a:buNone/>
            </a:pPr>
            <a:r>
              <a:rPr lang="en-US" sz="2200" b="1" dirty="0">
                <a:solidFill>
                  <a:srgbClr val="17202B"/>
                </a:solidFill>
                <a:latin typeface="Segoe UI Semibold" pitchFamily="34" charset="0"/>
                <a:ea typeface="Segoe UI Semibold" pitchFamily="34" charset="-122"/>
                <a:cs typeface="Segoe UI Semibold" pitchFamily="34" charset="-120"/>
              </a:rPr>
              <a:t>$2.6bn</a:t>
            </a:r>
            <a:endParaRPr lang="en-US" sz="2200" dirty="0"/>
          </a:p>
          <a:p>
            <a:pPr indent="0" marL="0">
              <a:buNone/>
            </a:pPr>
            <a:r>
              <a:rPr lang="en-US" sz="950" dirty="0">
                <a:solidFill>
                  <a:srgbClr val="6B7785"/>
                </a:solidFill>
                <a:latin typeface="Segoe UI" pitchFamily="34" charset="0"/>
                <a:ea typeface="Segoe UI" pitchFamily="34" charset="-122"/>
                <a:cs typeface="Segoe UI" pitchFamily="34" charset="-120"/>
              </a:rPr>
              <a:t>order book, 2026 to 2028</a:t>
            </a:r>
            <a:endParaRPr lang="en-US" sz="2200" dirty="0"/>
          </a:p>
        </p:txBody>
      </p:sp>
      <p:sp>
        <p:nvSpPr>
          <p:cNvPr id="15" name="Text 11"/>
          <p:cNvSpPr txBox="1"/>
          <p:nvPr/>
        </p:nvSpPr>
        <p:spPr>
          <a:xfrm>
            <a:off x="6858000" y="2971800"/>
            <a:ext cx="1920240" cy="914400"/>
          </a:xfrm>
          <a:prstGeom prst="rect">
            <a:avLst/>
          </a:prstGeom>
          <a:noFill/>
          <a:ln/>
        </p:spPr>
        <p:txBody>
          <a:bodyPr wrap="square" lIns="0" tIns="0" rIns="0" bIns="0" rtlCol="0" anchor="t"/>
          <a:lstStyle/>
          <a:p>
            <a:pPr indent="0" marL="0">
              <a:buNone/>
            </a:pPr>
            <a:r>
              <a:rPr lang="en-US" sz="2200" b="1" dirty="0">
                <a:solidFill>
                  <a:srgbClr val="17202B"/>
                </a:solidFill>
                <a:latin typeface="Segoe UI Semibold" pitchFamily="34" charset="0"/>
                <a:ea typeface="Segoe UI Semibold" pitchFamily="34" charset="-122"/>
                <a:cs typeface="Segoe UI Semibold" pitchFamily="34" charset="-120"/>
              </a:rPr>
              <a:t>50%</a:t>
            </a:r>
            <a:endParaRPr lang="en-US" sz="2200" dirty="0"/>
          </a:p>
          <a:p>
            <a:pPr indent="0" marL="0">
              <a:buNone/>
            </a:pPr>
            <a:r>
              <a:rPr lang="en-US" sz="950" dirty="0">
                <a:solidFill>
                  <a:srgbClr val="6B7785"/>
                </a:solidFill>
                <a:latin typeface="Segoe UI" pitchFamily="34" charset="0"/>
                <a:ea typeface="Segoe UI" pitchFamily="34" charset="-122"/>
                <a:cs typeface="Segoe UI" pitchFamily="34" charset="-120"/>
              </a:rPr>
              <a:t>US duty on imported steel</a:t>
            </a:r>
            <a:endParaRPr lang="en-US" sz="2200" dirty="0"/>
          </a:p>
        </p:txBody>
      </p:sp>
      <p:sp>
        <p:nvSpPr>
          <p:cNvPr id="16" name="Shape 12"/>
          <p:cNvSpPr/>
          <p:nvPr/>
        </p:nvSpPr>
        <p:spPr>
          <a:xfrm>
            <a:off x="457200" y="3986784"/>
            <a:ext cx="100584" cy="100584"/>
          </a:xfrm>
          <a:prstGeom prst="rect">
            <a:avLst/>
          </a:prstGeom>
          <a:solidFill>
            <a:srgbClr val="E8692C"/>
          </a:solidFill>
          <a:ln w="12700">
            <a:solidFill>
              <a:srgbClr val="E8692C"/>
            </a:solidFill>
            <a:prstDash val="solid"/>
          </a:ln>
        </p:spPr>
      </p:sp>
      <p:sp>
        <p:nvSpPr>
          <p:cNvPr id="17" name="Text 13"/>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The tariff wall cuts both ways: it protects Borusan's three US plants but taxes every pipe shipped from Gemlik. Where you build is your strategy.</a:t>
            </a:r>
            <a:endParaRPr lang="en-US" sz="1150" dirty="0"/>
          </a:p>
        </p:txBody>
      </p:sp>
      <p:sp>
        <p:nvSpPr>
          <p:cNvPr id="18" name="Text 14"/>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Sources: Borusan Boru 1Q26 and 2Q26 investor presentations (segments p.19, US share, order book, plants); The White House, Proclamation of 2 Apr 2026 on steel, aluminum and copper imports (50% on full value, effective 6 Apr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1 · OWNERSHIP  ·  EM STEP</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Capital is not control</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6</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b="1" dirty="0">
                <a:solidFill>
                  <a:srgbClr val="17202B"/>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ownership.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Map who owns the cash flows and who owns the votes.</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Check the dividend policy and related party deals.</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When the structure changes, ask why, and who gained.</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SHARE OF CAPITAL VS SHARE OF VOTES, %</a:t>
            </a:r>
            <a:endParaRPr lang="en-US" sz="800" dirty="0"/>
          </a:p>
        </p:txBody>
      </p:sp>
      <p:graphicFrame>
        <p:nvGraphicFramePr>
          <p:cNvPr id="12" name="Chart 0" descr=""/>
          <p:cNvGraphicFramePr/>
          <p:nvPr/>
        </p:nvGraphicFramePr>
        <p:xfrm>
          <a:off x="4206240" y="1371600"/>
          <a:ext cx="3017520" cy="23774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7315200" y="1417320"/>
            <a:ext cx="1463040" cy="2377440"/>
          </a:xfrm>
          <a:prstGeom prst="rect">
            <a:avLst/>
          </a:prstGeom>
          <a:noFill/>
          <a:ln/>
        </p:spPr>
        <p:txBody>
          <a:bodyPr wrap="square" lIns="0" tIns="0" rIns="0" bIns="0" rtlCol="0" anchor="t"/>
          <a:lstStyle/>
          <a:p>
            <a:pPr indent="0" marL="0">
              <a:spcAft>
                <a:spcPts val="200"/>
              </a:spcAft>
              <a:buNone/>
            </a:pPr>
            <a:r>
              <a:rPr lang="en-US" sz="850" b="1" dirty="0">
                <a:solidFill>
                  <a:srgbClr val="17202B"/>
                </a:solidFill>
                <a:latin typeface="Segoe UI" pitchFamily="34" charset="0"/>
                <a:ea typeface="Segoe UI" pitchFamily="34" charset="-122"/>
                <a:cs typeface="Segoe UI" pitchFamily="34" charset="-120"/>
              </a:rPr>
              <a:t>1998</a:t>
            </a:r>
            <a:endParaRPr lang="en-US" sz="850" dirty="0"/>
          </a:p>
          <a:p>
            <a:pPr indent="0" marL="0">
              <a:spcAft>
                <a:spcPts val="200"/>
              </a:spcAft>
              <a:buNone/>
            </a:pPr>
            <a:r>
              <a:rPr lang="en-US" sz="850" dirty="0">
                <a:solidFill>
                  <a:srgbClr val="4A5A6B"/>
                </a:solidFill>
                <a:latin typeface="Segoe UI" pitchFamily="34" charset="0"/>
                <a:ea typeface="Segoe UI" pitchFamily="34" charset="-122"/>
                <a:cs typeface="Segoe UI" pitchFamily="34" charset="-120"/>
              </a:rPr>
              <a:t>Joint venture with Germany's Salzgitter Mannesmann</a:t>
            </a:r>
            <a:endParaRPr lang="en-US" sz="850" dirty="0"/>
          </a:p>
          <a:p>
            <a:pPr indent="0" marL="0">
              <a:spcAft>
                <a:spcPts val="200"/>
              </a:spcAft>
              <a:buNone/>
            </a:pPr>
            <a:r>
              <a:rPr lang="en-US" sz="850" b="1" dirty="0">
                <a:solidFill>
                  <a:srgbClr val="17202B"/>
                </a:solidFill>
                <a:latin typeface="Segoe UI" pitchFamily="34" charset="0"/>
                <a:ea typeface="Segoe UI" pitchFamily="34" charset="-122"/>
                <a:cs typeface="Segoe UI" pitchFamily="34" charset="-120"/>
              </a:rPr>
              <a:t>Nov 2023</a:t>
            </a:r>
            <a:endParaRPr lang="en-US" sz="850" dirty="0"/>
          </a:p>
          <a:p>
            <a:pPr indent="0" marL="0">
              <a:spcAft>
                <a:spcPts val="200"/>
              </a:spcAft>
              <a:buNone/>
            </a:pPr>
            <a:r>
              <a:rPr lang="en-US" sz="850" dirty="0">
                <a:solidFill>
                  <a:srgbClr val="4A5A6B"/>
                </a:solidFill>
                <a:latin typeface="Segoe UI" pitchFamily="34" charset="0"/>
                <a:ea typeface="Segoe UI" pitchFamily="34" charset="-122"/>
                <a:cs typeface="Segoe UI" pitchFamily="34" charset="-120"/>
              </a:rPr>
              <a:t>Borusan buys the German 23%; name becomes Borusan Boru</a:t>
            </a:r>
            <a:endParaRPr lang="en-US" sz="850" dirty="0"/>
          </a:p>
          <a:p>
            <a:pPr indent="0" marL="0">
              <a:spcAft>
                <a:spcPts val="200"/>
              </a:spcAft>
              <a:buNone/>
            </a:pPr>
            <a:r>
              <a:rPr lang="en-US" sz="850" b="1" dirty="0">
                <a:solidFill>
                  <a:srgbClr val="17202B"/>
                </a:solidFill>
                <a:latin typeface="Segoe UI" pitchFamily="34" charset="0"/>
                <a:ea typeface="Segoe UI" pitchFamily="34" charset="-122"/>
                <a:cs typeface="Segoe UI" pitchFamily="34" charset="-120"/>
              </a:rPr>
              <a:t>2025</a:t>
            </a:r>
            <a:endParaRPr lang="en-US" sz="850" dirty="0"/>
          </a:p>
          <a:p>
            <a:pPr indent="0" marL="0">
              <a:spcAft>
                <a:spcPts val="200"/>
              </a:spcAft>
              <a:buNone/>
            </a:pPr>
            <a:r>
              <a:rPr lang="en-US" sz="850" dirty="0">
                <a:solidFill>
                  <a:srgbClr val="4A5A6B"/>
                </a:solidFill>
                <a:latin typeface="Segoe UI" pitchFamily="34" charset="0"/>
                <a:ea typeface="Segoe UI" pitchFamily="34" charset="-122"/>
                <a:cs typeface="Segoe UI" pitchFamily="34" charset="-120"/>
              </a:rPr>
              <a:t>IFRS profit, statutory loss, no dividend</a:t>
            </a:r>
            <a:endParaRPr lang="en-US" sz="850" dirty="0"/>
          </a:p>
        </p:txBody>
      </p:sp>
      <p:sp>
        <p:nvSpPr>
          <p:cNvPr id="14" name="Shape 10"/>
          <p:cNvSpPr/>
          <p:nvPr/>
        </p:nvSpPr>
        <p:spPr>
          <a:xfrm>
            <a:off x="457200" y="3986784"/>
            <a:ext cx="100584" cy="100584"/>
          </a:xfrm>
          <a:prstGeom prst="rect">
            <a:avLst/>
          </a:prstGeom>
          <a:solidFill>
            <a:srgbClr val="E8692C"/>
          </a:solidFill>
          <a:ln w="12700">
            <a:solidFill>
              <a:srgbClr val="E8692C"/>
            </a:solidFill>
            <a:prstDash val="solid"/>
          </a:ln>
        </p:spPr>
      </p:sp>
      <p:sp>
        <p:nvSpPr>
          <p:cNvPr id="15" name="Text 11"/>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One share is not one vote: the public owns 22% of the capital but 16% of the votes. And in Türkiye dividends come from the statutory books, not IFRS. A profit you cannot pay out.</a:t>
            </a:r>
            <a:endParaRPr lang="en-US" sz="1150" dirty="0"/>
          </a:p>
        </p:txBody>
      </p:sp>
      <p:sp>
        <p:nvSpPr>
          <p:cNvPr id="16" name="Text 12"/>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Sources: Borusan Boru Investor Relations, shareholder structure (accessed 3 Oct 2026); KAP and Salzgitter AG press release (23% stake transfer closed 27 Nov 2023); KAP, 28 Apr 2026 (no dividend for 2025, statutory loss).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1 · EARNINGS QUALITY</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Profit is an opinion. Cash is a fact.</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7</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b="1" dirty="0">
                <a:solidFill>
                  <a:srgbClr val="17202B"/>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financials.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Normalize: one great quarter is not a margin.</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Walk from profit to cash: working capital, capex, tax.</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Remove accounting noise: IAS 29, IFRS 16, currency.</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BORUSAN THROUGH THIS LENS</a:t>
            </a:r>
            <a:endParaRPr lang="en-US" sz="800" dirty="0"/>
          </a:p>
        </p:txBody>
      </p:sp>
      <p:graphicFrame>
        <p:nvGraphicFramePr>
          <p:cNvPr id="12" name="Chart 0" descr=""/>
          <p:cNvGraphicFramePr/>
          <p:nvPr/>
        </p:nvGraphicFramePr>
        <p:xfrm>
          <a:off x="4206240" y="1371600"/>
          <a:ext cx="2514600" cy="237744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6858000" y="1417320"/>
            <a:ext cx="1920240" cy="1097280"/>
          </a:xfrm>
          <a:prstGeom prst="roundRect">
            <a:avLst>
              <a:gd name="adj" fmla="val 5000"/>
            </a:avLst>
          </a:prstGeom>
          <a:solidFill>
            <a:srgbClr val="F4F6F9"/>
          </a:solidFill>
          <a:ln w="12700">
            <a:solidFill>
              <a:srgbClr val="F4F6F9"/>
            </a:solidFill>
            <a:prstDash val="solid"/>
          </a:ln>
        </p:spPr>
      </p:sp>
      <p:sp>
        <p:nvSpPr>
          <p:cNvPr id="14" name="Text 10"/>
          <p:cNvSpPr txBox="1"/>
          <p:nvPr/>
        </p:nvSpPr>
        <p:spPr>
          <a:xfrm>
            <a:off x="6967728" y="1490472"/>
            <a:ext cx="1737360" cy="914400"/>
          </a:xfrm>
          <a:prstGeom prst="rect">
            <a:avLst/>
          </a:prstGeom>
          <a:noFill/>
          <a:ln/>
        </p:spPr>
        <p:txBody>
          <a:bodyPr wrap="square" lIns="0" tIns="0" rIns="0" bIns="0" rtlCol="0" anchor="t"/>
          <a:lstStyle/>
          <a:p>
            <a:pPr indent="0" marL="0">
              <a:buNone/>
            </a:pPr>
            <a:r>
              <a:rPr lang="en-US" sz="2200" b="1" dirty="0">
                <a:solidFill>
                  <a:srgbClr val="E8692C"/>
                </a:solidFill>
                <a:latin typeface="Segoe UI Semibold" pitchFamily="34" charset="0"/>
                <a:ea typeface="Segoe UI Semibold" pitchFamily="34" charset="-122"/>
                <a:cs typeface="Segoe UI Semibold" pitchFamily="34" charset="-120"/>
              </a:rPr>
              <a:t>$63m of $78m</a:t>
            </a:r>
            <a:endParaRPr lang="en-US" sz="2200" dirty="0"/>
          </a:p>
          <a:p>
            <a:pPr indent="0" marL="0">
              <a:buNone/>
            </a:pPr>
            <a:r>
              <a:rPr lang="en-US" sz="950" dirty="0">
                <a:solidFill>
                  <a:srgbClr val="6B7785"/>
                </a:solidFill>
                <a:latin typeface="Segoe UI" pitchFamily="34" charset="0"/>
                <a:ea typeface="Segoe UI" pitchFamily="34" charset="-122"/>
                <a:cs typeface="Segoe UI" pitchFamily="34" charset="-120"/>
              </a:rPr>
              <a:t>1H26 free cash flow came from working capital</a:t>
            </a:r>
            <a:endParaRPr lang="en-US" sz="2200" dirty="0"/>
          </a:p>
        </p:txBody>
      </p:sp>
      <p:sp>
        <p:nvSpPr>
          <p:cNvPr id="15" name="Shape 11"/>
          <p:cNvSpPr/>
          <p:nvPr/>
        </p:nvSpPr>
        <p:spPr>
          <a:xfrm>
            <a:off x="6858000" y="2651760"/>
            <a:ext cx="1920240" cy="1097280"/>
          </a:xfrm>
          <a:prstGeom prst="roundRect">
            <a:avLst>
              <a:gd name="adj" fmla="val 5000"/>
            </a:avLst>
          </a:prstGeom>
          <a:solidFill>
            <a:srgbClr val="F4F6F9"/>
          </a:solidFill>
          <a:ln w="12700">
            <a:solidFill>
              <a:srgbClr val="F4F6F9"/>
            </a:solidFill>
            <a:prstDash val="solid"/>
          </a:ln>
        </p:spPr>
      </p:sp>
      <p:sp>
        <p:nvSpPr>
          <p:cNvPr id="16" name="Text 12"/>
          <p:cNvSpPr txBox="1"/>
          <p:nvPr/>
        </p:nvSpPr>
        <p:spPr>
          <a:xfrm>
            <a:off x="6967728" y="2724912"/>
            <a:ext cx="1737360" cy="914400"/>
          </a:xfrm>
          <a:prstGeom prst="rect">
            <a:avLst/>
          </a:prstGeom>
          <a:noFill/>
          <a:ln/>
        </p:spPr>
        <p:txBody>
          <a:bodyPr wrap="square" lIns="0" tIns="0" rIns="0" bIns="0" rtlCol="0" anchor="t"/>
          <a:lstStyle/>
          <a:p>
            <a:pPr indent="0" marL="0">
              <a:buNone/>
            </a:pPr>
            <a:r>
              <a:rPr lang="en-US" sz="2200" b="1" dirty="0">
                <a:solidFill>
                  <a:srgbClr val="2B7A78"/>
                </a:solidFill>
                <a:latin typeface="Segoe UI Semibold" pitchFamily="34" charset="0"/>
                <a:ea typeface="Segoe UI Semibold" pitchFamily="34" charset="-122"/>
                <a:cs typeface="Segoe UI Semibold" pitchFamily="34" charset="-120"/>
              </a:rPr>
              <a:t>3.2x → 0.9x</a:t>
            </a:r>
            <a:endParaRPr lang="en-US" sz="2200" dirty="0"/>
          </a:p>
          <a:p>
            <a:pPr indent="0" marL="0">
              <a:buNone/>
            </a:pPr>
            <a:r>
              <a:rPr lang="en-US" sz="950" dirty="0">
                <a:solidFill>
                  <a:srgbClr val="6B7785"/>
                </a:solidFill>
                <a:latin typeface="Segoe UI" pitchFamily="34" charset="0"/>
                <a:ea typeface="Segoe UI" pitchFamily="34" charset="-122"/>
                <a:cs typeface="Segoe UI" pitchFamily="34" charset="-120"/>
              </a:rPr>
              <a:t>net debt to EBITDA, 2Q25 to 2Q26</a:t>
            </a:r>
            <a:endParaRPr lang="en-US" sz="2200" dirty="0"/>
          </a:p>
        </p:txBody>
      </p:sp>
      <p:sp>
        <p:nvSpPr>
          <p:cNvPr id="17" name="Shape 13"/>
          <p:cNvSpPr/>
          <p:nvPr/>
        </p:nvSpPr>
        <p:spPr>
          <a:xfrm>
            <a:off x="457200" y="3986784"/>
            <a:ext cx="100584" cy="100584"/>
          </a:xfrm>
          <a:prstGeom prst="rect">
            <a:avLst/>
          </a:prstGeom>
          <a:solidFill>
            <a:srgbClr val="E8692C"/>
          </a:solidFill>
          <a:ln w="12700">
            <a:solidFill>
              <a:srgbClr val="E8692C"/>
            </a:solidFill>
            <a:prstDash val="solid"/>
          </a:ln>
        </p:spPr>
      </p:sp>
      <p:sp>
        <p:nvSpPr>
          <p:cNvPr id="18" name="Text 14"/>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Under high inflation, working capital eats cash and old depreciation makes profit look bigger than it is. So I always value cash, never reported earnings.</a:t>
            </a:r>
            <a:endParaRPr lang="en-US" sz="1150" dirty="0"/>
          </a:p>
        </p:txBody>
      </p:sp>
      <p:sp>
        <p:nvSpPr>
          <p:cNvPr id="19" name="Text 15"/>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Source: Borusan Boru 2Q26 investor presentation pp.18, 21, 22 (quarterly revenue and EBITDA, leverage, 1H26 cash flow read from chart). Margin = EBITDA / revenue.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2 · FORECAST</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Guidance is their forecast. Build your own from drivers.</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8</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dirty="0">
                <a:solidFill>
                  <a:srgbClr val="B7BFC9"/>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b="1" dirty="0">
                <a:solidFill>
                  <a:srgbClr val="17202B"/>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forecast.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Break revenue into volume × price, and forecast each driver.</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Test guidance against history and the order book.</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Forecast the margin in scenarios, not in hope.</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REVENUE, $M, AND EBITDA MARGIN</a:t>
            </a:r>
            <a:endParaRPr lang="en-US" sz="800" dirty="0"/>
          </a:p>
        </p:txBody>
      </p:sp>
      <p:graphicFrame>
        <p:nvGraphicFramePr>
          <p:cNvPr id="12" name="Chart 0" descr=""/>
          <p:cNvGraphicFramePr/>
          <p:nvPr/>
        </p:nvGraphicFramePr>
        <p:xfrm>
          <a:off x="4206240" y="1371600"/>
          <a:ext cx="2514600" cy="21488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4206240" y="3520440"/>
            <a:ext cx="2560320" cy="256032"/>
          </a:xfrm>
          <a:prstGeom prst="rect">
            <a:avLst/>
          </a:prstGeom>
          <a:noFill/>
          <a:ln/>
        </p:spPr>
        <p:txBody>
          <a:bodyPr wrap="square" lIns="0" tIns="0" rIns="0" bIns="0" rtlCol="0" anchor="ctr"/>
          <a:lstStyle/>
          <a:p>
            <a:pPr algn="ctr" indent="0" marL="0">
              <a:buNone/>
            </a:pPr>
            <a:r>
              <a:rPr lang="en-US" sz="950" b="1" dirty="0">
                <a:solidFill>
                  <a:srgbClr val="17202B"/>
                </a:solidFill>
                <a:latin typeface="Segoe UI" pitchFamily="34" charset="0"/>
                <a:ea typeface="Segoe UI" pitchFamily="34" charset="-122"/>
                <a:cs typeface="Segoe UI" pitchFamily="34" charset="-120"/>
              </a:rPr>
              <a:t>Margin  6.0%  →  7.4%  →  9 to 11%</a:t>
            </a:r>
            <a:endParaRPr lang="en-US" sz="950" dirty="0"/>
          </a:p>
        </p:txBody>
      </p:sp>
      <p:sp>
        <p:nvSpPr>
          <p:cNvPr id="14" name="Shape 10"/>
          <p:cNvSpPr/>
          <p:nvPr/>
        </p:nvSpPr>
        <p:spPr>
          <a:xfrm>
            <a:off x="6858000" y="1417320"/>
            <a:ext cx="1920240" cy="1097280"/>
          </a:xfrm>
          <a:prstGeom prst="roundRect">
            <a:avLst>
              <a:gd name="adj" fmla="val 5000"/>
            </a:avLst>
          </a:prstGeom>
          <a:solidFill>
            <a:srgbClr val="F4F6F9"/>
          </a:solidFill>
          <a:ln w="12700">
            <a:solidFill>
              <a:srgbClr val="F4F6F9"/>
            </a:solidFill>
            <a:prstDash val="solid"/>
          </a:ln>
        </p:spPr>
      </p:sp>
      <p:sp>
        <p:nvSpPr>
          <p:cNvPr id="15" name="Text 11"/>
          <p:cNvSpPr txBox="1"/>
          <p:nvPr/>
        </p:nvSpPr>
        <p:spPr>
          <a:xfrm>
            <a:off x="6967728" y="1490472"/>
            <a:ext cx="1737360" cy="914400"/>
          </a:xfrm>
          <a:prstGeom prst="rect">
            <a:avLst/>
          </a:prstGeom>
          <a:noFill/>
          <a:ln/>
        </p:spPr>
        <p:txBody>
          <a:bodyPr wrap="square" lIns="0" tIns="0" rIns="0" bIns="0" rtlCol="0" anchor="t"/>
          <a:lstStyle/>
          <a:p>
            <a:pPr indent="0" marL="0">
              <a:buNone/>
            </a:pPr>
            <a:r>
              <a:rPr lang="en-US" sz="1700" b="1" dirty="0">
                <a:solidFill>
                  <a:srgbClr val="17202B"/>
                </a:solidFill>
                <a:latin typeface="Segoe UI Semibold" pitchFamily="34" charset="0"/>
                <a:ea typeface="Segoe UI Semibold" pitchFamily="34" charset="-122"/>
                <a:cs typeface="Segoe UI Semibold" pitchFamily="34" charset="-120"/>
              </a:rPr>
              <a:t>1.2mt × $1,920</a:t>
            </a:r>
            <a:endParaRPr lang="en-US" sz="1700" dirty="0"/>
          </a:p>
          <a:p>
            <a:pPr indent="0" marL="0">
              <a:buNone/>
            </a:pPr>
            <a:r>
              <a:rPr lang="en-US" sz="950" dirty="0">
                <a:solidFill>
                  <a:srgbClr val="6B7785"/>
                </a:solidFill>
                <a:latin typeface="Segoe UI" pitchFamily="34" charset="0"/>
                <a:ea typeface="Segoe UI" pitchFamily="34" charset="-122"/>
                <a:cs typeface="Segoe UI" pitchFamily="34" charset="-120"/>
              </a:rPr>
              <a:t>2026 guided volume × implied price per tonne</a:t>
            </a:r>
            <a:endParaRPr lang="en-US" sz="1700" dirty="0"/>
          </a:p>
        </p:txBody>
      </p:sp>
      <p:sp>
        <p:nvSpPr>
          <p:cNvPr id="16" name="Shape 12"/>
          <p:cNvSpPr/>
          <p:nvPr/>
        </p:nvSpPr>
        <p:spPr>
          <a:xfrm>
            <a:off x="6858000" y="2651760"/>
            <a:ext cx="1920240" cy="1097280"/>
          </a:xfrm>
          <a:prstGeom prst="roundRect">
            <a:avLst>
              <a:gd name="adj" fmla="val 5000"/>
            </a:avLst>
          </a:prstGeom>
          <a:solidFill>
            <a:srgbClr val="F4F6F9"/>
          </a:solidFill>
          <a:ln w="12700">
            <a:solidFill>
              <a:srgbClr val="F4F6F9"/>
            </a:solidFill>
            <a:prstDash val="solid"/>
          </a:ln>
        </p:spPr>
      </p:sp>
      <p:sp>
        <p:nvSpPr>
          <p:cNvPr id="17" name="Text 13"/>
          <p:cNvSpPr txBox="1"/>
          <p:nvPr/>
        </p:nvSpPr>
        <p:spPr>
          <a:xfrm>
            <a:off x="6967728" y="2724912"/>
            <a:ext cx="1737360" cy="914400"/>
          </a:xfrm>
          <a:prstGeom prst="rect">
            <a:avLst/>
          </a:prstGeom>
          <a:noFill/>
          <a:ln/>
        </p:spPr>
        <p:txBody>
          <a:bodyPr wrap="square" lIns="0" tIns="0" rIns="0" bIns="0" rtlCol="0" anchor="t"/>
          <a:lstStyle/>
          <a:p>
            <a:pPr indent="0" marL="0">
              <a:buNone/>
            </a:pPr>
            <a:r>
              <a:rPr lang="en-US" sz="2200" b="1" dirty="0">
                <a:solidFill>
                  <a:srgbClr val="E8692C"/>
                </a:solidFill>
                <a:latin typeface="Segoe UI Semibold" pitchFamily="34" charset="0"/>
                <a:ea typeface="Segoe UI Semibold" pitchFamily="34" charset="-122"/>
                <a:cs typeface="Segoe UI Semibold" pitchFamily="34" charset="-120"/>
              </a:rPr>
              <a:t>$915m</a:t>
            </a:r>
            <a:endParaRPr lang="en-US" sz="2200" dirty="0"/>
          </a:p>
          <a:p>
            <a:pPr indent="0" marL="0">
              <a:buNone/>
            </a:pPr>
            <a:r>
              <a:rPr lang="en-US" sz="950" dirty="0">
                <a:solidFill>
                  <a:srgbClr val="6B7785"/>
                </a:solidFill>
                <a:latin typeface="Segoe UI" pitchFamily="34" charset="0"/>
                <a:ea typeface="Segoe UI" pitchFamily="34" charset="-122"/>
                <a:cs typeface="Segoe UI" pitchFamily="34" charset="-120"/>
              </a:rPr>
              <a:t>new orders in Aug 2026, mostly US, shipping in 2027 and 2028</a:t>
            </a:r>
            <a:endParaRPr lang="en-US" sz="2200" dirty="0"/>
          </a:p>
        </p:txBody>
      </p:sp>
      <p:sp>
        <p:nvSpPr>
          <p:cNvPr id="18" name="Shape 14"/>
          <p:cNvSpPr/>
          <p:nvPr/>
        </p:nvSpPr>
        <p:spPr>
          <a:xfrm>
            <a:off x="457200" y="3986784"/>
            <a:ext cx="100584" cy="100584"/>
          </a:xfrm>
          <a:prstGeom prst="rect">
            <a:avLst/>
          </a:prstGeom>
          <a:solidFill>
            <a:srgbClr val="E8692C"/>
          </a:solidFill>
          <a:ln w="12700">
            <a:solidFill>
              <a:srgbClr val="E8692C"/>
            </a:solidFill>
            <a:prstDash val="solid"/>
          </a:ln>
        </p:spPr>
      </p:sp>
      <p:sp>
        <p:nvSpPr>
          <p:cNvPr id="19" name="Text 15"/>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The order book makes volume visible until 2028. So the real forecast question is the margin: 6% two years ago, 10% guided now. That is where I put my scenarios.</a:t>
            </a:r>
            <a:endParaRPr lang="en-US" sz="1150" dirty="0"/>
          </a:p>
        </p:txBody>
      </p:sp>
      <p:sp>
        <p:nvSpPr>
          <p:cNvPr id="20" name="Text 16"/>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Sources: Borusan Boru 2Q26 investor presentation p.23 (2026 guidance: 1.15 to 1.25 mt, $2.2bn to $2.4bn, EBITDA margin 9 to 11%), pp.18 and 20 (2024, 2025); KAP disclosures 14 and 21 Aug 2026 (~$360m and ~$555m orders). Price per tonne = guided revenue / guided volume, midpoints.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4 · INTO VALUE</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How a DCF works: most of the value lies beyond year five</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9</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dirty="0">
                <a:solidFill>
                  <a:srgbClr val="B7BFC9"/>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b="1" dirty="0">
                <a:solidFill>
                  <a:srgbClr val="17202B"/>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valuation.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Forecast five years of free cash flow.</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Divide each year by (1 + WACC), once for every year.</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Add the terminal value: next cash ÷ (WACC minus growth), also discounted.</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PRESENT VALUE BY YEAR, $M (ILLUSTRATIVE CASH FLOWS)</a:t>
            </a:r>
            <a:endParaRPr lang="en-US" sz="800" dirty="0"/>
          </a:p>
        </p:txBody>
      </p:sp>
      <p:graphicFrame>
        <p:nvGraphicFramePr>
          <p:cNvPr id="12" name="Chart 0" descr=""/>
          <p:cNvGraphicFramePr/>
          <p:nvPr/>
        </p:nvGraphicFramePr>
        <p:xfrm>
          <a:off x="4206240" y="1371600"/>
          <a:ext cx="4572000" cy="237744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457200" y="3986784"/>
            <a:ext cx="100584" cy="100584"/>
          </a:xfrm>
          <a:prstGeom prst="rect">
            <a:avLst/>
          </a:prstGeom>
          <a:solidFill>
            <a:srgbClr val="E8692C"/>
          </a:solidFill>
          <a:ln w="12700">
            <a:solidFill>
              <a:srgbClr val="E8692C"/>
            </a:solidFill>
            <a:prstDash val="solid"/>
          </a:ln>
        </p:spPr>
      </p:sp>
      <p:sp>
        <p:nvSpPr>
          <p:cNvPr id="14" name="Text 10"/>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In this example 70% of the value comes after year five. That is why the discount rate and long term growth decide the answer.</a:t>
            </a:r>
            <a:endParaRPr lang="en-US" sz="1150" dirty="0"/>
          </a:p>
        </p:txBody>
      </p:sp>
      <p:sp>
        <p:nvSpPr>
          <p:cNvPr id="15" name="Text 11"/>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Illustrative cash flows ($115m to $131m) for teaching, not a forecast. Rate = Borusan blended WACC 10.25%, growth 2.5%. Terminal value 1,733 discounted to 1,064; total value 1,527.</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STEPS 3 AND 4 · BORUSAN</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One company, two risks, two discount rates</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10</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dirty="0">
                <a:solidFill>
                  <a:srgbClr val="B7BFC9"/>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b="1" dirty="0">
                <a:solidFill>
                  <a:srgbClr val="17202B"/>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b="1" dirty="0">
                <a:solidFill>
                  <a:srgbClr val="17202B"/>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model.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HOW TO DO IT</a:t>
            </a:r>
            <a:endParaRPr lang="en-US" sz="900" dirty="0"/>
          </a:p>
        </p:txBody>
      </p:sp>
      <p:sp>
        <p:nvSpPr>
          <p:cNvPr id="10" name="Text 7"/>
          <p:cNvSpPr txBox="1"/>
          <p:nvPr/>
        </p:nvSpPr>
        <p:spPr>
          <a:xfrm>
            <a:off x="502920" y="1783080"/>
            <a:ext cx="342900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Use one discount rate per risk: value US and Turkish plants apart.</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Cross-check the DCF with EV/EBITDA, never P/E alone here.</a:t>
            </a:r>
            <a:endParaRPr lang="en-US" sz="1150" dirty="0"/>
          </a:p>
          <a:p>
            <a:pPr marL="342900" indent="-342900">
              <a:spcAft>
                <a:spcPts val="1000"/>
              </a:spcAft>
              <a:buSzPct val="100000"/>
              <a:buFont typeface="+mj-lt"/>
              <a:buAutoNum type="arabicPeriod" startAt="1"/>
            </a:pPr>
            <a:r>
              <a:rPr lang="en-US" sz="1150" dirty="0">
                <a:solidFill>
                  <a:srgbClr val="17202B"/>
                </a:solidFill>
                <a:latin typeface="Segoe UI" pitchFamily="34" charset="0"/>
                <a:ea typeface="Segoe UI" pitchFamily="34" charset="-122"/>
                <a:cs typeface="Segoe UI" pitchFamily="34" charset="-120"/>
              </a:rPr>
              <a:t>Show a range, never a single point.</a:t>
            </a:r>
            <a:endParaRPr lang="en-US" sz="115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EQUITY VALUE RANGE BY METHOD, $M</a:t>
            </a:r>
            <a:endParaRPr lang="en-US" sz="800" dirty="0"/>
          </a:p>
        </p:txBody>
      </p:sp>
      <p:graphicFrame>
        <p:nvGraphicFramePr>
          <p:cNvPr id="12" name="Chart 0" descr=""/>
          <p:cNvGraphicFramePr/>
          <p:nvPr/>
        </p:nvGraphicFramePr>
        <p:xfrm>
          <a:off x="4206240" y="1371600"/>
          <a:ext cx="4572000" cy="242316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457200" y="3986784"/>
            <a:ext cx="100584" cy="100584"/>
          </a:xfrm>
          <a:prstGeom prst="rect">
            <a:avLst/>
          </a:prstGeom>
          <a:solidFill>
            <a:srgbClr val="E8692C"/>
          </a:solidFill>
          <a:ln w="12700">
            <a:solidFill>
              <a:srgbClr val="E8692C"/>
            </a:solidFill>
            <a:prstDash val="solid"/>
          </a:ln>
        </p:spPr>
      </p:sp>
      <p:sp>
        <p:nvSpPr>
          <p:cNvPr id="14" name="Text 10"/>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US plants at 9.4%, Turkish plants at 13.6%. And watch growth: at a 9% rate, moving long term growth from 2% to 3% adds 17% to the value.</a:t>
            </a:r>
            <a:endParaRPr lang="en-US" sz="1150" dirty="0"/>
          </a:p>
        </p:txBody>
      </p:sp>
      <p:sp>
        <p:nvSpPr>
          <p:cNvPr id="15" name="Text 11"/>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Model: calc.py, single stage DCF (next step: three stage with 2027 and 2028 deliveries). Cash flow = 2026 guided EBITDA ($230m) × 50%†, split 79/21 by revenue†, growth 2.5%†. Multiples 8.6x to 11.6x (Damodaran, US Oilfield Services to Steel, Jan 2026). † my assumption.</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STEP 5 · CONCLUDE</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Don't ask what it's worth. Ask what the price assumes.</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11</a:t>
            </a:r>
            <a:endParaRPr lang="en-US" sz="900" dirty="0"/>
          </a:p>
        </p:txBody>
      </p:sp>
      <p:sp>
        <p:nvSpPr>
          <p:cNvPr id="5" name="Text 3"/>
          <p:cNvSpPr txBox="1"/>
          <p:nvPr/>
        </p:nvSpPr>
        <p:spPr>
          <a:xfrm>
            <a:off x="4023360" y="182880"/>
            <a:ext cx="4754880" cy="237744"/>
          </a:xfrm>
          <a:prstGeom prst="rect">
            <a:avLst/>
          </a:prstGeom>
          <a:noFill/>
          <a:ln/>
        </p:spPr>
        <p:txBody>
          <a:bodyPr wrap="square" lIns="0" tIns="0" rIns="0" bIns="0" rtlCol="0" anchor="ctr"/>
          <a:lstStyle/>
          <a:p>
            <a:pPr algn="r" indent="0" marL="0">
              <a:buNone/>
            </a:pPr>
            <a:r>
              <a:rPr lang="en-US" sz="800" dirty="0">
                <a:solidFill>
                  <a:srgbClr val="B7BFC9"/>
                </a:solidFill>
                <a:latin typeface="Segoe UI" pitchFamily="34" charset="0"/>
                <a:ea typeface="Segoe UI" pitchFamily="34" charset="-122"/>
                <a:cs typeface="Segoe UI" pitchFamily="34" charset="-120"/>
              </a:rPr>
              <a:t>1 Understand</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2 Forecast</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3 Model</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dirty="0">
                <a:solidFill>
                  <a:srgbClr val="B7BFC9"/>
                </a:solidFill>
                <a:latin typeface="Segoe UI" pitchFamily="34" charset="0"/>
                <a:ea typeface="Segoe UI" pitchFamily="34" charset="-122"/>
                <a:cs typeface="Segoe UI" pitchFamily="34" charset="-120"/>
              </a:rPr>
              <a:t>4 Value</a:t>
            </a:r>
            <a:pPr algn="r" indent="0" marL="0">
              <a:buNone/>
            </a:pPr>
            <a:r>
              <a:rPr lang="en-US" sz="800" dirty="0">
                <a:solidFill>
                  <a:srgbClr val="B7BFC9"/>
                </a:solidFill>
                <a:latin typeface="Segoe UI" pitchFamily="34" charset="0"/>
                <a:ea typeface="Segoe UI" pitchFamily="34" charset="-122"/>
                <a:cs typeface="Segoe UI" pitchFamily="34" charset="-120"/>
              </a:rPr>
              <a:t>   ·   </a:t>
            </a:r>
            <a:pPr algn="r" indent="0" marL="0">
              <a:buNone/>
            </a:pPr>
            <a:r>
              <a:rPr lang="en-US" sz="800" b="1" dirty="0">
                <a:solidFill>
                  <a:srgbClr val="17202B"/>
                </a:solidFill>
                <a:latin typeface="Segoe UI" pitchFamily="34" charset="0"/>
                <a:ea typeface="Segoe UI" pitchFamily="34" charset="-122"/>
                <a:cs typeface="Segoe UI" pitchFamily="34" charset="-120"/>
              </a:rPr>
              <a:t>5 Conclude</a:t>
            </a:r>
            <a:endParaRPr lang="en-US" sz="800" dirty="0"/>
          </a:p>
        </p:txBody>
      </p:sp>
      <p:sp>
        <p:nvSpPr>
          <p:cNvPr id="6" name="Text 4"/>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7" name="Shape 5"/>
          <p:cNvSpPr/>
          <p:nvPr/>
        </p:nvSpPr>
        <p:spPr>
          <a:xfrm>
            <a:off x="457200" y="1207008"/>
            <a:ext cx="384048" cy="384048"/>
          </a:xfrm>
          <a:prstGeom prst="ellipse">
            <a:avLst/>
          </a:prstGeom>
          <a:solidFill>
            <a:srgbClr val="F4F6F9"/>
          </a:solidFill>
          <a:ln w="12700">
            <a:solidFill>
              <a:srgbClr val="F4F6F9"/>
            </a:solidFill>
            <a:prstDash val="solid"/>
          </a:ln>
        </p:spPr>
      </p:sp>
      <p:pic>
        <p:nvPicPr>
          <p:cNvPr id="8" name="Image 0" descr="icons/navy_market.png">    </p:cNvPr>
          <p:cNvPicPr>
            <a:picLocks noChangeAspect="1"/>
          </p:cNvPicPr>
          <p:nvPr/>
        </p:nvPicPr>
        <p:blipFill>
          <a:blip r:embed="rId1"/>
          <a:stretch>
            <a:fillRect/>
          </a:stretch>
        </p:blipFill>
        <p:spPr>
          <a:xfrm>
            <a:off x="557052" y="1306860"/>
            <a:ext cx="184343" cy="184343"/>
          </a:xfrm>
          <a:prstGeom prst="rect">
            <a:avLst/>
          </a:prstGeom>
        </p:spPr>
      </p:pic>
      <p:sp>
        <p:nvSpPr>
          <p:cNvPr id="9" name="Text 6"/>
          <p:cNvSpPr txBox="1"/>
          <p:nvPr/>
        </p:nvSpPr>
        <p:spPr>
          <a:xfrm>
            <a:off x="932688" y="1207008"/>
            <a:ext cx="2926080" cy="384048"/>
          </a:xfrm>
          <a:prstGeom prst="rect">
            <a:avLst/>
          </a:prstGeom>
          <a:noFill/>
          <a:ln/>
        </p:spPr>
        <p:txBody>
          <a:bodyPr wrap="square" lIns="0" tIns="0" rIns="0" bIns="0" rtlCol="0" anchor="ctr"/>
          <a:lstStyle/>
          <a:p>
            <a:pPr indent="0" marL="0">
              <a:buNone/>
            </a:pPr>
            <a:r>
              <a:rPr lang="en-US" sz="900" b="1" spc="200" kern="0" dirty="0">
                <a:solidFill>
                  <a:srgbClr val="17202B"/>
                </a:solidFill>
                <a:latin typeface="Segoe UI" pitchFamily="34" charset="0"/>
                <a:ea typeface="Segoe UI" pitchFamily="34" charset="-122"/>
                <a:cs typeface="Segoe UI" pitchFamily="34" charset="-120"/>
              </a:rPr>
              <a:t>REVERSE DCF</a:t>
            </a:r>
            <a:endParaRPr lang="en-US" sz="900" dirty="0"/>
          </a:p>
        </p:txBody>
      </p:sp>
      <p:sp>
        <p:nvSpPr>
          <p:cNvPr id="10" name="Text 7"/>
          <p:cNvSpPr txBox="1"/>
          <p:nvPr/>
        </p:nvSpPr>
        <p:spPr>
          <a:xfrm>
            <a:off x="502920" y="1737360"/>
            <a:ext cx="3474720" cy="2011680"/>
          </a:xfrm>
          <a:prstGeom prst="rect">
            <a:avLst/>
          </a:prstGeom>
          <a:noFill/>
          <a:ln/>
        </p:spPr>
        <p:txBody>
          <a:bodyPr wrap="square" lIns="0" tIns="0" rIns="0" bIns="0" rtlCol="0" anchor="t"/>
          <a:lstStyle/>
          <a:p>
            <a:pPr indent="0" marL="0">
              <a:buNone/>
            </a:pPr>
            <a:r>
              <a:rPr lang="en-US" sz="5400" b="1" dirty="0">
                <a:solidFill>
                  <a:srgbClr val="E8692C"/>
                </a:solidFill>
                <a:latin typeface="Segoe UI Semibold" pitchFamily="34" charset="0"/>
                <a:ea typeface="Segoe UI Semibold" pitchFamily="34" charset="-122"/>
                <a:cs typeface="Segoe UI Semibold" pitchFamily="34" charset="-120"/>
              </a:rPr>
              <a:t>4.4%</a:t>
            </a:r>
            <a:endParaRPr lang="en-US" sz="5400" dirty="0"/>
          </a:p>
          <a:p>
            <a:pPr indent="0" marL="0">
              <a:buNone/>
            </a:pPr>
            <a:r>
              <a:rPr lang="en-US" sz="1200" dirty="0">
                <a:solidFill>
                  <a:srgbClr val="17202B"/>
                </a:solidFill>
                <a:latin typeface="Segoe UI" pitchFamily="34" charset="0"/>
                <a:ea typeface="Segoe UI" pitchFamily="34" charset="-122"/>
                <a:cs typeface="Segoe UI" pitchFamily="34" charset="-120"/>
              </a:rPr>
              <a:t>growth forever is already in today's price.</a:t>
            </a:r>
            <a:endParaRPr lang="en-US" sz="5400" dirty="0"/>
          </a:p>
          <a:p>
            <a:pPr indent="0" marL="0">
              <a:buNone/>
            </a:pPr>
            <a:r>
              <a:rPr lang="en-US" sz="1100" dirty="0">
                <a:solidFill>
                  <a:srgbClr val="6B7785"/>
                </a:solidFill>
                <a:latin typeface="Segoe UI" pitchFamily="34" charset="0"/>
                <a:ea typeface="Segoe UI" pitchFamily="34" charset="-122"/>
                <a:cs typeface="Segoe UI" pitchFamily="34" charset="-120"/>
              </a:rPr>
              <a:t>My base case: 2.5%. The market treats the new 2026 guidance as permanent.</a:t>
            </a:r>
            <a:endParaRPr lang="en-US" sz="5400" dirty="0"/>
          </a:p>
        </p:txBody>
      </p:sp>
      <p:sp>
        <p:nvSpPr>
          <p:cNvPr id="11" name="Text 8"/>
          <p:cNvSpPr txBox="1"/>
          <p:nvPr/>
        </p:nvSpPr>
        <p:spPr>
          <a:xfrm>
            <a:off x="4297680" y="1207008"/>
            <a:ext cx="4480560" cy="201168"/>
          </a:xfrm>
          <a:prstGeom prst="rect">
            <a:avLst/>
          </a:prstGeom>
          <a:noFill/>
          <a:ln/>
        </p:spPr>
        <p:txBody>
          <a:bodyPr wrap="square" lIns="0" tIns="0" rIns="0" bIns="0" rtlCol="0" anchor="ctr"/>
          <a:lstStyle/>
          <a:p>
            <a:pPr indent="0" marL="0">
              <a:buNone/>
            </a:pPr>
            <a:r>
              <a:rPr lang="en-US" sz="800" b="1" spc="200" kern="0" dirty="0">
                <a:solidFill>
                  <a:srgbClr val="6B7785"/>
                </a:solidFill>
                <a:latin typeface="Segoe UI" pitchFamily="34" charset="0"/>
                <a:ea typeface="Segoe UI" pitchFamily="34" charset="-122"/>
                <a:cs typeface="Segoe UI" pitchFamily="34" charset="-120"/>
              </a:rPr>
              <a:t>WHAT WOULD CHANGE MY MIND</a:t>
            </a:r>
            <a:endParaRPr lang="en-US" sz="800" dirty="0"/>
          </a:p>
        </p:txBody>
      </p:sp>
      <p:sp>
        <p:nvSpPr>
          <p:cNvPr id="12" name="Shape 9"/>
          <p:cNvSpPr/>
          <p:nvPr/>
        </p:nvSpPr>
        <p:spPr>
          <a:xfrm>
            <a:off x="4297680" y="1481328"/>
            <a:ext cx="4480560" cy="475488"/>
          </a:xfrm>
          <a:prstGeom prst="roundRect">
            <a:avLst>
              <a:gd name="adj" fmla="val 11538"/>
            </a:avLst>
          </a:prstGeom>
          <a:solidFill>
            <a:srgbClr val="F4F6F9"/>
          </a:solidFill>
          <a:ln w="12700">
            <a:solidFill>
              <a:srgbClr val="F4F6F9"/>
            </a:solidFill>
            <a:prstDash val="solid"/>
          </a:ln>
        </p:spPr>
      </p:sp>
      <p:sp>
        <p:nvSpPr>
          <p:cNvPr id="13" name="Text 10"/>
          <p:cNvSpPr txBox="1"/>
          <p:nvPr/>
        </p:nvSpPr>
        <p:spPr>
          <a:xfrm>
            <a:off x="4407408" y="1481328"/>
            <a:ext cx="274320" cy="475488"/>
          </a:xfrm>
          <a:prstGeom prst="rect">
            <a:avLst/>
          </a:prstGeom>
          <a:noFill/>
          <a:ln/>
        </p:spPr>
        <p:txBody>
          <a:bodyPr wrap="square" lIns="0" tIns="0" rIns="0" bIns="0" rtlCol="0" anchor="ctr"/>
          <a:lstStyle/>
          <a:p>
            <a:pPr indent="0" marL="0">
              <a:buNone/>
            </a:pPr>
            <a:r>
              <a:rPr lang="en-US" sz="1300" b="1" dirty="0">
                <a:solidFill>
                  <a:srgbClr val="E8692C"/>
                </a:solidFill>
                <a:latin typeface="Segoe UI Semibold" pitchFamily="34" charset="0"/>
                <a:ea typeface="Segoe UI Semibold" pitchFamily="34" charset="-122"/>
                <a:cs typeface="Segoe UI Semibold" pitchFamily="34" charset="-120"/>
              </a:rPr>
              <a:t>1</a:t>
            </a:r>
            <a:endParaRPr lang="en-US" sz="1300" dirty="0"/>
          </a:p>
        </p:txBody>
      </p:sp>
      <p:sp>
        <p:nvSpPr>
          <p:cNvPr id="14" name="Text 11"/>
          <p:cNvSpPr txBox="1"/>
          <p:nvPr/>
        </p:nvSpPr>
        <p:spPr>
          <a:xfrm>
            <a:off x="4709160" y="1481328"/>
            <a:ext cx="4023360" cy="475488"/>
          </a:xfrm>
          <a:prstGeom prst="rect">
            <a:avLst/>
          </a:prstGeom>
          <a:noFill/>
          <a:ln/>
        </p:spPr>
        <p:txBody>
          <a:bodyPr wrap="square" lIns="0" tIns="0" rIns="0" bIns="0" rtlCol="0" anchor="ctr"/>
          <a:lstStyle/>
          <a:p>
            <a:pPr indent="0" marL="0">
              <a:buNone/>
            </a:pPr>
            <a:r>
              <a:rPr lang="en-US" sz="1050" b="1" dirty="0">
                <a:solidFill>
                  <a:srgbClr val="17202B"/>
                </a:solidFill>
                <a:latin typeface="Segoe UI" pitchFamily="34" charset="0"/>
                <a:ea typeface="Segoe UI" pitchFamily="34" charset="-122"/>
                <a:cs typeface="Segoe UI" pitchFamily="34" charset="-120"/>
              </a:rPr>
              <a:t>Margin falls back to 6%</a:t>
            </a:r>
            <a:pPr indent="0" marL="0">
              <a:buNone/>
            </a:pPr>
            <a:r>
              <a:rPr lang="en-US" sz="1050" dirty="0">
                <a:solidFill>
                  <a:srgbClr val="6B7785"/>
                </a:solidFill>
                <a:latin typeface="Segoe UI" pitchFamily="34" charset="0"/>
                <a:ea typeface="Segoe UI" pitchFamily="34" charset="-122"/>
                <a:cs typeface="Segoe UI" pitchFamily="34" charset="-120"/>
              </a:rPr>
              <a:t>   watch 3Q26 results, November</a:t>
            </a:r>
            <a:endParaRPr lang="en-US" sz="1050" dirty="0"/>
          </a:p>
        </p:txBody>
      </p:sp>
      <p:sp>
        <p:nvSpPr>
          <p:cNvPr id="15" name="Shape 12"/>
          <p:cNvSpPr/>
          <p:nvPr/>
        </p:nvSpPr>
        <p:spPr>
          <a:xfrm>
            <a:off x="4297680" y="2048256"/>
            <a:ext cx="4480560" cy="475488"/>
          </a:xfrm>
          <a:prstGeom prst="roundRect">
            <a:avLst>
              <a:gd name="adj" fmla="val 11538"/>
            </a:avLst>
          </a:prstGeom>
          <a:solidFill>
            <a:srgbClr val="F4F6F9"/>
          </a:solidFill>
          <a:ln w="12700">
            <a:solidFill>
              <a:srgbClr val="F4F6F9"/>
            </a:solidFill>
            <a:prstDash val="solid"/>
          </a:ln>
        </p:spPr>
      </p:sp>
      <p:sp>
        <p:nvSpPr>
          <p:cNvPr id="16" name="Text 13"/>
          <p:cNvSpPr txBox="1"/>
          <p:nvPr/>
        </p:nvSpPr>
        <p:spPr>
          <a:xfrm>
            <a:off x="4407408" y="2048256"/>
            <a:ext cx="274320" cy="475488"/>
          </a:xfrm>
          <a:prstGeom prst="rect">
            <a:avLst/>
          </a:prstGeom>
          <a:noFill/>
          <a:ln/>
        </p:spPr>
        <p:txBody>
          <a:bodyPr wrap="square" lIns="0" tIns="0" rIns="0" bIns="0" rtlCol="0" anchor="ctr"/>
          <a:lstStyle/>
          <a:p>
            <a:pPr indent="0" marL="0">
              <a:buNone/>
            </a:pPr>
            <a:r>
              <a:rPr lang="en-US" sz="1300" b="1" dirty="0">
                <a:solidFill>
                  <a:srgbClr val="E8692C"/>
                </a:solidFill>
                <a:latin typeface="Segoe UI Semibold" pitchFamily="34" charset="0"/>
                <a:ea typeface="Segoe UI Semibold" pitchFamily="34" charset="-122"/>
                <a:cs typeface="Segoe UI Semibold" pitchFamily="34" charset="-120"/>
              </a:rPr>
              <a:t>2</a:t>
            </a:r>
            <a:endParaRPr lang="en-US" sz="1300" dirty="0"/>
          </a:p>
        </p:txBody>
      </p:sp>
      <p:sp>
        <p:nvSpPr>
          <p:cNvPr id="17" name="Text 14"/>
          <p:cNvSpPr txBox="1"/>
          <p:nvPr/>
        </p:nvSpPr>
        <p:spPr>
          <a:xfrm>
            <a:off x="4709160" y="2048256"/>
            <a:ext cx="4023360" cy="475488"/>
          </a:xfrm>
          <a:prstGeom prst="rect">
            <a:avLst/>
          </a:prstGeom>
          <a:noFill/>
          <a:ln/>
        </p:spPr>
        <p:txBody>
          <a:bodyPr wrap="square" lIns="0" tIns="0" rIns="0" bIns="0" rtlCol="0" anchor="ctr"/>
          <a:lstStyle/>
          <a:p>
            <a:pPr indent="0" marL="0">
              <a:buNone/>
            </a:pPr>
            <a:r>
              <a:rPr lang="en-US" sz="1050" b="1" dirty="0">
                <a:solidFill>
                  <a:srgbClr val="17202B"/>
                </a:solidFill>
                <a:latin typeface="Segoe UI" pitchFamily="34" charset="0"/>
                <a:ea typeface="Segoe UI" pitchFamily="34" charset="-122"/>
                <a:cs typeface="Segoe UI" pitchFamily="34" charset="-120"/>
              </a:rPr>
              <a:t>US policy shock</a:t>
            </a:r>
            <a:pPr indent="0" marL="0">
              <a:buNone/>
            </a:pPr>
            <a:r>
              <a:rPr lang="en-US" sz="1050" dirty="0">
                <a:solidFill>
                  <a:srgbClr val="6B7785"/>
                </a:solidFill>
                <a:latin typeface="Segoe UI" pitchFamily="34" charset="0"/>
                <a:ea typeface="Segoe UI" pitchFamily="34" charset="-122"/>
                <a:cs typeface="Segoe UI" pitchFamily="34" charset="-120"/>
              </a:rPr>
              <a:t>   79% of revenue: tariffs, pipeline permits</a:t>
            </a:r>
            <a:endParaRPr lang="en-US" sz="1050" dirty="0"/>
          </a:p>
        </p:txBody>
      </p:sp>
      <p:sp>
        <p:nvSpPr>
          <p:cNvPr id="18" name="Shape 15"/>
          <p:cNvSpPr/>
          <p:nvPr/>
        </p:nvSpPr>
        <p:spPr>
          <a:xfrm>
            <a:off x="4297680" y="2615184"/>
            <a:ext cx="4480560" cy="475488"/>
          </a:xfrm>
          <a:prstGeom prst="roundRect">
            <a:avLst>
              <a:gd name="adj" fmla="val 11538"/>
            </a:avLst>
          </a:prstGeom>
          <a:solidFill>
            <a:srgbClr val="F4F6F9"/>
          </a:solidFill>
          <a:ln w="12700">
            <a:solidFill>
              <a:srgbClr val="F4F6F9"/>
            </a:solidFill>
            <a:prstDash val="solid"/>
          </a:ln>
        </p:spPr>
      </p:sp>
      <p:sp>
        <p:nvSpPr>
          <p:cNvPr id="19" name="Text 16"/>
          <p:cNvSpPr txBox="1"/>
          <p:nvPr/>
        </p:nvSpPr>
        <p:spPr>
          <a:xfrm>
            <a:off x="4407408" y="2615184"/>
            <a:ext cx="274320" cy="475488"/>
          </a:xfrm>
          <a:prstGeom prst="rect">
            <a:avLst/>
          </a:prstGeom>
          <a:noFill/>
          <a:ln/>
        </p:spPr>
        <p:txBody>
          <a:bodyPr wrap="square" lIns="0" tIns="0" rIns="0" bIns="0" rtlCol="0" anchor="ctr"/>
          <a:lstStyle/>
          <a:p>
            <a:pPr indent="0" marL="0">
              <a:buNone/>
            </a:pPr>
            <a:r>
              <a:rPr lang="en-US" sz="1300" b="1" dirty="0">
                <a:solidFill>
                  <a:srgbClr val="E8692C"/>
                </a:solidFill>
                <a:latin typeface="Segoe UI Semibold" pitchFamily="34" charset="0"/>
                <a:ea typeface="Segoe UI Semibold" pitchFamily="34" charset="-122"/>
                <a:cs typeface="Segoe UI Semibold" pitchFamily="34" charset="-120"/>
              </a:rPr>
              <a:t>3</a:t>
            </a:r>
            <a:endParaRPr lang="en-US" sz="1300" dirty="0"/>
          </a:p>
        </p:txBody>
      </p:sp>
      <p:sp>
        <p:nvSpPr>
          <p:cNvPr id="20" name="Text 17"/>
          <p:cNvSpPr txBox="1"/>
          <p:nvPr/>
        </p:nvSpPr>
        <p:spPr>
          <a:xfrm>
            <a:off x="4709160" y="2615184"/>
            <a:ext cx="4023360" cy="475488"/>
          </a:xfrm>
          <a:prstGeom prst="rect">
            <a:avLst/>
          </a:prstGeom>
          <a:noFill/>
          <a:ln/>
        </p:spPr>
        <p:txBody>
          <a:bodyPr wrap="square" lIns="0" tIns="0" rIns="0" bIns="0" rtlCol="0" anchor="ctr"/>
          <a:lstStyle/>
          <a:p>
            <a:pPr indent="0" marL="0">
              <a:buNone/>
            </a:pPr>
            <a:r>
              <a:rPr lang="en-US" sz="1050" b="1" dirty="0">
                <a:solidFill>
                  <a:srgbClr val="17202B"/>
                </a:solidFill>
                <a:latin typeface="Segoe UI" pitchFamily="34" charset="0"/>
                <a:ea typeface="Segoe UI" pitchFamily="34" charset="-122"/>
                <a:cs typeface="Segoe UI" pitchFamily="34" charset="-120"/>
              </a:rPr>
              <a:t>Orders slip</a:t>
            </a:r>
            <a:pPr indent="0" marL="0">
              <a:buNone/>
            </a:pPr>
            <a:r>
              <a:rPr lang="en-US" sz="1050" dirty="0">
                <a:solidFill>
                  <a:srgbClr val="6B7785"/>
                </a:solidFill>
                <a:latin typeface="Segoe UI" pitchFamily="34" charset="0"/>
                <a:ea typeface="Segoe UI" pitchFamily="34" charset="-122"/>
                <a:cs typeface="Segoe UI" pitchFamily="34" charset="-120"/>
              </a:rPr>
              <a:t>   one order is about $555m</a:t>
            </a:r>
            <a:endParaRPr lang="en-US" sz="1050" dirty="0"/>
          </a:p>
        </p:txBody>
      </p:sp>
      <p:sp>
        <p:nvSpPr>
          <p:cNvPr id="21" name="Shape 18"/>
          <p:cNvSpPr/>
          <p:nvPr/>
        </p:nvSpPr>
        <p:spPr>
          <a:xfrm>
            <a:off x="4297680" y="3182112"/>
            <a:ext cx="4480560" cy="475488"/>
          </a:xfrm>
          <a:prstGeom prst="roundRect">
            <a:avLst>
              <a:gd name="adj" fmla="val 11538"/>
            </a:avLst>
          </a:prstGeom>
          <a:solidFill>
            <a:srgbClr val="F4F6F9"/>
          </a:solidFill>
          <a:ln w="12700">
            <a:solidFill>
              <a:srgbClr val="F4F6F9"/>
            </a:solidFill>
            <a:prstDash val="solid"/>
          </a:ln>
        </p:spPr>
      </p:sp>
      <p:sp>
        <p:nvSpPr>
          <p:cNvPr id="22" name="Text 19"/>
          <p:cNvSpPr txBox="1"/>
          <p:nvPr/>
        </p:nvSpPr>
        <p:spPr>
          <a:xfrm>
            <a:off x="4407408" y="3182112"/>
            <a:ext cx="274320" cy="475488"/>
          </a:xfrm>
          <a:prstGeom prst="rect">
            <a:avLst/>
          </a:prstGeom>
          <a:noFill/>
          <a:ln/>
        </p:spPr>
        <p:txBody>
          <a:bodyPr wrap="square" lIns="0" tIns="0" rIns="0" bIns="0" rtlCol="0" anchor="ctr"/>
          <a:lstStyle/>
          <a:p>
            <a:pPr indent="0" marL="0">
              <a:buNone/>
            </a:pPr>
            <a:r>
              <a:rPr lang="en-US" sz="1300" b="1" dirty="0">
                <a:solidFill>
                  <a:srgbClr val="E8692C"/>
                </a:solidFill>
                <a:latin typeface="Segoe UI Semibold" pitchFamily="34" charset="0"/>
                <a:ea typeface="Segoe UI Semibold" pitchFamily="34" charset="-122"/>
                <a:cs typeface="Segoe UI Semibold" pitchFamily="34" charset="-120"/>
              </a:rPr>
              <a:t>4</a:t>
            </a:r>
            <a:endParaRPr lang="en-US" sz="1300" dirty="0"/>
          </a:p>
        </p:txBody>
      </p:sp>
      <p:sp>
        <p:nvSpPr>
          <p:cNvPr id="23" name="Text 20"/>
          <p:cNvSpPr txBox="1"/>
          <p:nvPr/>
        </p:nvSpPr>
        <p:spPr>
          <a:xfrm>
            <a:off x="4709160" y="3182112"/>
            <a:ext cx="4023360" cy="475488"/>
          </a:xfrm>
          <a:prstGeom prst="rect">
            <a:avLst/>
          </a:prstGeom>
          <a:noFill/>
          <a:ln/>
        </p:spPr>
        <p:txBody>
          <a:bodyPr wrap="square" lIns="0" tIns="0" rIns="0" bIns="0" rtlCol="0" anchor="ctr"/>
          <a:lstStyle/>
          <a:p>
            <a:pPr indent="0" marL="0">
              <a:buNone/>
            </a:pPr>
            <a:r>
              <a:rPr lang="en-US" sz="1050" b="1" dirty="0">
                <a:solidFill>
                  <a:srgbClr val="17202B"/>
                </a:solidFill>
                <a:latin typeface="Segoe UI" pitchFamily="34" charset="0"/>
                <a:ea typeface="Segoe UI" pitchFamily="34" charset="-122"/>
                <a:cs typeface="Segoe UI" pitchFamily="34" charset="-120"/>
              </a:rPr>
              <a:t>Cash quality</a:t>
            </a:r>
            <a:pPr indent="0" marL="0">
              <a:buNone/>
            </a:pPr>
            <a:r>
              <a:rPr lang="en-US" sz="1050" dirty="0">
                <a:solidFill>
                  <a:srgbClr val="6B7785"/>
                </a:solidFill>
                <a:latin typeface="Segoe UI" pitchFamily="34" charset="0"/>
                <a:ea typeface="Segoe UI" pitchFamily="34" charset="-122"/>
                <a:cs typeface="Segoe UI" pitchFamily="34" charset="-120"/>
              </a:rPr>
              <a:t>   working capital gains do not repeat</a:t>
            </a:r>
            <a:endParaRPr lang="en-US" sz="1050" dirty="0"/>
          </a:p>
        </p:txBody>
      </p:sp>
      <p:sp>
        <p:nvSpPr>
          <p:cNvPr id="24" name="Shape 21"/>
          <p:cNvSpPr/>
          <p:nvPr/>
        </p:nvSpPr>
        <p:spPr>
          <a:xfrm>
            <a:off x="457200" y="3986784"/>
            <a:ext cx="100584" cy="100584"/>
          </a:xfrm>
          <a:prstGeom prst="rect">
            <a:avLst/>
          </a:prstGeom>
          <a:solidFill>
            <a:srgbClr val="E8692C"/>
          </a:solidFill>
          <a:ln w="12700">
            <a:solidFill>
              <a:srgbClr val="E8692C"/>
            </a:solidFill>
            <a:prstDash val="solid"/>
          </a:ln>
        </p:spPr>
      </p:sp>
      <p:sp>
        <p:nvSpPr>
          <p:cNvPr id="25" name="Text 22"/>
          <p:cNvSpPr txBox="1"/>
          <p:nvPr/>
        </p:nvSpPr>
        <p:spPr>
          <a:xfrm>
            <a:off x="685800" y="3840480"/>
            <a:ext cx="8092440" cy="411480"/>
          </a:xfrm>
          <a:prstGeom prst="rect">
            <a:avLst/>
          </a:prstGeom>
          <a:noFill/>
          <a:ln/>
        </p:spPr>
        <p:txBody>
          <a:bodyPr wrap="square" lIns="0" tIns="0" rIns="0" bIns="0" rtlCol="0" anchor="ctr"/>
          <a:lstStyle/>
          <a:p>
            <a:pPr indent="0" marL="0">
              <a:buNone/>
            </a:pPr>
            <a:r>
              <a:rPr lang="en-US" sz="1150" b="1" dirty="0">
                <a:solidFill>
                  <a:srgbClr val="17202B"/>
                </a:solidFill>
                <a:latin typeface="Segoe UI" pitchFamily="34" charset="0"/>
                <a:ea typeface="Segoe UI" pitchFamily="34" charset="-122"/>
                <a:cs typeface="Segoe UI" pitchFamily="34" charset="-120"/>
              </a:rPr>
              <a:t>A valuation is not a number. It is a list of beliefs. The reverse DCF shows which belief I must disagree with to have a view.</a:t>
            </a:r>
            <a:endParaRPr lang="en-US" sz="1150" dirty="0"/>
          </a:p>
        </p:txBody>
      </p:sp>
      <p:sp>
        <p:nvSpPr>
          <p:cNvPr id="26" name="Text 23"/>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Reverse DCF: market EV $2,062m (EquityRT market cap 22 Sep 2026 + 2Q26 net debt) at blended WACC 10.2%, cash flow $115m. Orders: KAP disclosures, Aug 2026. Results date estimated from last year's calendar.</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BRINGING IT TOGETHER</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How I'd value Borusan, step by step</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12</a:t>
            </a:r>
            <a:endParaRPr lang="en-US" sz="900" dirty="0"/>
          </a:p>
        </p:txBody>
      </p:sp>
      <p:sp>
        <p:nvSpPr>
          <p:cNvPr id="5" name="Text 3"/>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6" name="Shape 4"/>
          <p:cNvSpPr/>
          <p:nvPr/>
        </p:nvSpPr>
        <p:spPr>
          <a:xfrm>
            <a:off x="457200" y="1133856"/>
            <a:ext cx="274320" cy="274320"/>
          </a:xfrm>
          <a:prstGeom prst="ellipse">
            <a:avLst/>
          </a:prstGeom>
          <a:solidFill>
            <a:srgbClr val="F4F6F9"/>
          </a:solidFill>
          <a:ln w="12700">
            <a:solidFill>
              <a:srgbClr val="F4F6F9"/>
            </a:solidFill>
            <a:prstDash val="solid"/>
          </a:ln>
        </p:spPr>
      </p:sp>
      <p:pic>
        <p:nvPicPr>
          <p:cNvPr id="7" name="Image 0" descr="icons/navy_country.png">    </p:cNvPr>
          <p:cNvPicPr>
            <a:picLocks noChangeAspect="1"/>
          </p:cNvPicPr>
          <p:nvPr/>
        </p:nvPicPr>
        <p:blipFill>
          <a:blip r:embed="rId1"/>
          <a:stretch>
            <a:fillRect/>
          </a:stretch>
        </p:blipFill>
        <p:spPr>
          <a:xfrm>
            <a:off x="528523" y="1205179"/>
            <a:ext cx="131674" cy="131674"/>
          </a:xfrm>
          <a:prstGeom prst="rect">
            <a:avLst/>
          </a:prstGeom>
        </p:spPr>
      </p:pic>
      <p:sp>
        <p:nvSpPr>
          <p:cNvPr id="8" name="Text 5"/>
          <p:cNvSpPr txBox="1"/>
          <p:nvPr/>
        </p:nvSpPr>
        <p:spPr>
          <a:xfrm>
            <a:off x="841248" y="1115568"/>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Country</a:t>
            </a:r>
            <a:endParaRPr lang="en-US" sz="1100" dirty="0"/>
          </a:p>
        </p:txBody>
      </p:sp>
      <p:sp>
        <p:nvSpPr>
          <p:cNvPr id="9" name="Text 6"/>
          <p:cNvSpPr txBox="1"/>
          <p:nvPr/>
        </p:nvSpPr>
        <p:spPr>
          <a:xfrm>
            <a:off x="2057400" y="1115568"/>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A dollar model; Turkish risk only on Turkish plants</a:t>
            </a:r>
            <a:endParaRPr lang="en-US" sz="1050" dirty="0"/>
          </a:p>
        </p:txBody>
      </p:sp>
      <p:sp>
        <p:nvSpPr>
          <p:cNvPr id="10" name="Shape 7"/>
          <p:cNvSpPr/>
          <p:nvPr/>
        </p:nvSpPr>
        <p:spPr>
          <a:xfrm>
            <a:off x="457200" y="1458468"/>
            <a:ext cx="274320" cy="274320"/>
          </a:xfrm>
          <a:prstGeom prst="ellipse">
            <a:avLst/>
          </a:prstGeom>
          <a:solidFill>
            <a:srgbClr val="F4F6F9"/>
          </a:solidFill>
          <a:ln w="12700">
            <a:solidFill>
              <a:srgbClr val="F4F6F9"/>
            </a:solidFill>
            <a:prstDash val="solid"/>
          </a:ln>
        </p:spPr>
      </p:sp>
      <p:pic>
        <p:nvPicPr>
          <p:cNvPr id="11" name="Image 1" descr="icons/navy_sector.png">    </p:cNvPr>
          <p:cNvPicPr>
            <a:picLocks noChangeAspect="1"/>
          </p:cNvPicPr>
          <p:nvPr/>
        </p:nvPicPr>
        <p:blipFill>
          <a:blip r:embed="rId2"/>
          <a:stretch>
            <a:fillRect/>
          </a:stretch>
        </p:blipFill>
        <p:spPr>
          <a:xfrm>
            <a:off x="528523" y="1529791"/>
            <a:ext cx="131674" cy="131674"/>
          </a:xfrm>
          <a:prstGeom prst="rect">
            <a:avLst/>
          </a:prstGeom>
        </p:spPr>
      </p:pic>
      <p:sp>
        <p:nvSpPr>
          <p:cNvPr id="12" name="Text 8"/>
          <p:cNvSpPr txBox="1"/>
          <p:nvPr/>
        </p:nvSpPr>
        <p:spPr>
          <a:xfrm>
            <a:off x="841248" y="1440180"/>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Sector</a:t>
            </a:r>
            <a:endParaRPr lang="en-US" sz="1100" dirty="0"/>
          </a:p>
        </p:txBody>
      </p:sp>
      <p:sp>
        <p:nvSpPr>
          <p:cNvPr id="13" name="Text 9"/>
          <p:cNvSpPr txBox="1"/>
          <p:nvPr/>
        </p:nvSpPr>
        <p:spPr>
          <a:xfrm>
            <a:off x="2057400" y="1440180"/>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A tariff protected US pipe niche, still cyclical</a:t>
            </a:r>
            <a:endParaRPr lang="en-US" sz="1050" dirty="0"/>
          </a:p>
        </p:txBody>
      </p:sp>
      <p:sp>
        <p:nvSpPr>
          <p:cNvPr id="14" name="Shape 10"/>
          <p:cNvSpPr/>
          <p:nvPr/>
        </p:nvSpPr>
        <p:spPr>
          <a:xfrm>
            <a:off x="457200" y="1783080"/>
            <a:ext cx="274320" cy="274320"/>
          </a:xfrm>
          <a:prstGeom prst="ellipse">
            <a:avLst/>
          </a:prstGeom>
          <a:solidFill>
            <a:srgbClr val="F4F6F9"/>
          </a:solidFill>
          <a:ln w="12700">
            <a:solidFill>
              <a:srgbClr val="F4F6F9"/>
            </a:solidFill>
            <a:prstDash val="solid"/>
          </a:ln>
        </p:spPr>
      </p:sp>
      <p:pic>
        <p:nvPicPr>
          <p:cNvPr id="15" name="Image 2" descr="icons/navy_business.png">    </p:cNvPr>
          <p:cNvPicPr>
            <a:picLocks noChangeAspect="1"/>
          </p:cNvPicPr>
          <p:nvPr/>
        </p:nvPicPr>
        <p:blipFill>
          <a:blip r:embed="rId3"/>
          <a:stretch>
            <a:fillRect/>
          </a:stretch>
        </p:blipFill>
        <p:spPr>
          <a:xfrm>
            <a:off x="528523" y="1854403"/>
            <a:ext cx="131674" cy="131674"/>
          </a:xfrm>
          <a:prstGeom prst="rect">
            <a:avLst/>
          </a:prstGeom>
        </p:spPr>
      </p:pic>
      <p:sp>
        <p:nvSpPr>
          <p:cNvPr id="16" name="Text 11"/>
          <p:cNvSpPr txBox="1"/>
          <p:nvPr/>
        </p:nvSpPr>
        <p:spPr>
          <a:xfrm>
            <a:off x="841248" y="1764792"/>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Business</a:t>
            </a:r>
            <a:endParaRPr lang="en-US" sz="1100" dirty="0"/>
          </a:p>
        </p:txBody>
      </p:sp>
      <p:sp>
        <p:nvSpPr>
          <p:cNvPr id="17" name="Text 12"/>
          <p:cNvSpPr txBox="1"/>
          <p:nvPr/>
        </p:nvSpPr>
        <p:spPr>
          <a:xfrm>
            <a:off x="2057400" y="1764792"/>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A US infrastructure supplier, listed in Istanbul</a:t>
            </a:r>
            <a:endParaRPr lang="en-US" sz="1050" dirty="0"/>
          </a:p>
        </p:txBody>
      </p:sp>
      <p:sp>
        <p:nvSpPr>
          <p:cNvPr id="18" name="Shape 13"/>
          <p:cNvSpPr/>
          <p:nvPr/>
        </p:nvSpPr>
        <p:spPr>
          <a:xfrm>
            <a:off x="457200" y="2107692"/>
            <a:ext cx="274320" cy="274320"/>
          </a:xfrm>
          <a:prstGeom prst="ellipse">
            <a:avLst/>
          </a:prstGeom>
          <a:solidFill>
            <a:srgbClr val="F4F6F9"/>
          </a:solidFill>
          <a:ln w="12700">
            <a:solidFill>
              <a:srgbClr val="F4F6F9"/>
            </a:solidFill>
            <a:prstDash val="solid"/>
          </a:ln>
        </p:spPr>
      </p:sp>
      <p:pic>
        <p:nvPicPr>
          <p:cNvPr id="19" name="Image 3" descr="icons/navy_ownership.png">    </p:cNvPr>
          <p:cNvPicPr>
            <a:picLocks noChangeAspect="1"/>
          </p:cNvPicPr>
          <p:nvPr/>
        </p:nvPicPr>
        <p:blipFill>
          <a:blip r:embed="rId4"/>
          <a:stretch>
            <a:fillRect/>
          </a:stretch>
        </p:blipFill>
        <p:spPr>
          <a:xfrm>
            <a:off x="528523" y="2179015"/>
            <a:ext cx="131674" cy="131674"/>
          </a:xfrm>
          <a:prstGeom prst="rect">
            <a:avLst/>
          </a:prstGeom>
        </p:spPr>
      </p:pic>
      <p:sp>
        <p:nvSpPr>
          <p:cNvPr id="20" name="Text 14"/>
          <p:cNvSpPr txBox="1"/>
          <p:nvPr/>
        </p:nvSpPr>
        <p:spPr>
          <a:xfrm>
            <a:off x="841248" y="2089404"/>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Ownership</a:t>
            </a:r>
            <a:endParaRPr lang="en-US" sz="1100" dirty="0"/>
          </a:p>
        </p:txBody>
      </p:sp>
      <p:sp>
        <p:nvSpPr>
          <p:cNvPr id="21" name="Text 15"/>
          <p:cNvSpPr txBox="1"/>
          <p:nvPr/>
        </p:nvSpPr>
        <p:spPr>
          <a:xfrm>
            <a:off x="2057400" y="2089404"/>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Group controlled; votes and capital differ</a:t>
            </a:r>
            <a:endParaRPr lang="en-US" sz="1050" dirty="0"/>
          </a:p>
        </p:txBody>
      </p:sp>
      <p:sp>
        <p:nvSpPr>
          <p:cNvPr id="22" name="Shape 16"/>
          <p:cNvSpPr/>
          <p:nvPr/>
        </p:nvSpPr>
        <p:spPr>
          <a:xfrm>
            <a:off x="457200" y="2432304"/>
            <a:ext cx="274320" cy="274320"/>
          </a:xfrm>
          <a:prstGeom prst="ellipse">
            <a:avLst/>
          </a:prstGeom>
          <a:solidFill>
            <a:srgbClr val="F4F6F9"/>
          </a:solidFill>
          <a:ln w="12700">
            <a:solidFill>
              <a:srgbClr val="F4F6F9"/>
            </a:solidFill>
            <a:prstDash val="solid"/>
          </a:ln>
        </p:spPr>
      </p:sp>
      <p:pic>
        <p:nvPicPr>
          <p:cNvPr id="23" name="Image 4" descr="icons/navy_financials.png">    </p:cNvPr>
          <p:cNvPicPr>
            <a:picLocks noChangeAspect="1"/>
          </p:cNvPicPr>
          <p:nvPr/>
        </p:nvPicPr>
        <p:blipFill>
          <a:blip r:embed="rId5"/>
          <a:stretch>
            <a:fillRect/>
          </a:stretch>
        </p:blipFill>
        <p:spPr>
          <a:xfrm>
            <a:off x="528523" y="2503627"/>
            <a:ext cx="131674" cy="131674"/>
          </a:xfrm>
          <a:prstGeom prst="rect">
            <a:avLst/>
          </a:prstGeom>
        </p:spPr>
      </p:pic>
      <p:sp>
        <p:nvSpPr>
          <p:cNvPr id="24" name="Text 17"/>
          <p:cNvSpPr txBox="1"/>
          <p:nvPr/>
        </p:nvSpPr>
        <p:spPr>
          <a:xfrm>
            <a:off x="841248" y="2414016"/>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Quality</a:t>
            </a:r>
            <a:endParaRPr lang="en-US" sz="1100" dirty="0"/>
          </a:p>
        </p:txBody>
      </p:sp>
      <p:sp>
        <p:nvSpPr>
          <p:cNvPr id="25" name="Text 18"/>
          <p:cNvSpPr txBox="1"/>
          <p:nvPr/>
        </p:nvSpPr>
        <p:spPr>
          <a:xfrm>
            <a:off x="2057400" y="2414016"/>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Margin and cash still need to prove themselves</a:t>
            </a:r>
            <a:endParaRPr lang="en-US" sz="1050" dirty="0"/>
          </a:p>
        </p:txBody>
      </p:sp>
      <p:sp>
        <p:nvSpPr>
          <p:cNvPr id="26" name="Shape 19"/>
          <p:cNvSpPr/>
          <p:nvPr/>
        </p:nvSpPr>
        <p:spPr>
          <a:xfrm>
            <a:off x="457200" y="2756916"/>
            <a:ext cx="274320" cy="274320"/>
          </a:xfrm>
          <a:prstGeom prst="ellipse">
            <a:avLst/>
          </a:prstGeom>
          <a:solidFill>
            <a:srgbClr val="F4F6F9"/>
          </a:solidFill>
          <a:ln w="12700">
            <a:solidFill>
              <a:srgbClr val="F4F6F9"/>
            </a:solidFill>
            <a:prstDash val="solid"/>
          </a:ln>
        </p:spPr>
      </p:sp>
      <p:pic>
        <p:nvPicPr>
          <p:cNvPr id="27" name="Image 5" descr="icons/navy_forecast.png">    </p:cNvPr>
          <p:cNvPicPr>
            <a:picLocks noChangeAspect="1"/>
          </p:cNvPicPr>
          <p:nvPr/>
        </p:nvPicPr>
        <p:blipFill>
          <a:blip r:embed="rId6"/>
          <a:stretch>
            <a:fillRect/>
          </a:stretch>
        </p:blipFill>
        <p:spPr>
          <a:xfrm>
            <a:off x="528523" y="2828239"/>
            <a:ext cx="131674" cy="131674"/>
          </a:xfrm>
          <a:prstGeom prst="rect">
            <a:avLst/>
          </a:prstGeom>
        </p:spPr>
      </p:pic>
      <p:sp>
        <p:nvSpPr>
          <p:cNvPr id="28" name="Text 20"/>
          <p:cNvSpPr txBox="1"/>
          <p:nvPr/>
        </p:nvSpPr>
        <p:spPr>
          <a:xfrm>
            <a:off x="841248" y="2738628"/>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Forecast</a:t>
            </a:r>
            <a:endParaRPr lang="en-US" sz="1100" dirty="0"/>
          </a:p>
        </p:txBody>
      </p:sp>
      <p:sp>
        <p:nvSpPr>
          <p:cNvPr id="29" name="Text 21"/>
          <p:cNvSpPr txBox="1"/>
          <p:nvPr/>
        </p:nvSpPr>
        <p:spPr>
          <a:xfrm>
            <a:off x="2057400" y="2738628"/>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Volume is visible; the margin is the debate</a:t>
            </a:r>
            <a:endParaRPr lang="en-US" sz="1050" dirty="0"/>
          </a:p>
        </p:txBody>
      </p:sp>
      <p:sp>
        <p:nvSpPr>
          <p:cNvPr id="30" name="Shape 22"/>
          <p:cNvSpPr/>
          <p:nvPr/>
        </p:nvSpPr>
        <p:spPr>
          <a:xfrm>
            <a:off x="457200" y="3081528"/>
            <a:ext cx="274320" cy="274320"/>
          </a:xfrm>
          <a:prstGeom prst="ellipse">
            <a:avLst/>
          </a:prstGeom>
          <a:solidFill>
            <a:srgbClr val="F4F6F9"/>
          </a:solidFill>
          <a:ln w="12700">
            <a:solidFill>
              <a:srgbClr val="F4F6F9"/>
            </a:solidFill>
            <a:prstDash val="solid"/>
          </a:ln>
        </p:spPr>
      </p:sp>
      <p:pic>
        <p:nvPicPr>
          <p:cNvPr id="31" name="Image 6" descr="icons/navy_model.png">    </p:cNvPr>
          <p:cNvPicPr>
            <a:picLocks noChangeAspect="1"/>
          </p:cNvPicPr>
          <p:nvPr/>
        </p:nvPicPr>
        <p:blipFill>
          <a:blip r:embed="rId7"/>
          <a:stretch>
            <a:fillRect/>
          </a:stretch>
        </p:blipFill>
        <p:spPr>
          <a:xfrm>
            <a:off x="528523" y="3152851"/>
            <a:ext cx="131674" cy="131674"/>
          </a:xfrm>
          <a:prstGeom prst="rect">
            <a:avLst/>
          </a:prstGeom>
        </p:spPr>
      </p:pic>
      <p:sp>
        <p:nvSpPr>
          <p:cNvPr id="32" name="Text 23"/>
          <p:cNvSpPr txBox="1"/>
          <p:nvPr/>
        </p:nvSpPr>
        <p:spPr>
          <a:xfrm>
            <a:off x="841248" y="3063240"/>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Value</a:t>
            </a:r>
            <a:endParaRPr lang="en-US" sz="1100" dirty="0"/>
          </a:p>
        </p:txBody>
      </p:sp>
      <p:sp>
        <p:nvSpPr>
          <p:cNvPr id="33" name="Text 24"/>
          <p:cNvSpPr txBox="1"/>
          <p:nvPr/>
        </p:nvSpPr>
        <p:spPr>
          <a:xfrm>
            <a:off x="2057400" y="3063240"/>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$1.0 to 2.5bn range; market at $1.9bn</a:t>
            </a:r>
            <a:endParaRPr lang="en-US" sz="1050" dirty="0"/>
          </a:p>
        </p:txBody>
      </p:sp>
      <p:sp>
        <p:nvSpPr>
          <p:cNvPr id="34" name="Shape 25"/>
          <p:cNvSpPr/>
          <p:nvPr/>
        </p:nvSpPr>
        <p:spPr>
          <a:xfrm>
            <a:off x="457200" y="3406140"/>
            <a:ext cx="274320" cy="274320"/>
          </a:xfrm>
          <a:prstGeom prst="ellipse">
            <a:avLst/>
          </a:prstGeom>
          <a:solidFill>
            <a:srgbClr val="F4F6F9"/>
          </a:solidFill>
          <a:ln w="12700">
            <a:solidFill>
              <a:srgbClr val="F4F6F9"/>
            </a:solidFill>
            <a:prstDash val="solid"/>
          </a:ln>
        </p:spPr>
      </p:sp>
      <p:pic>
        <p:nvPicPr>
          <p:cNvPr id="35" name="Image 7" descr="icons/navy_market.png">    </p:cNvPr>
          <p:cNvPicPr>
            <a:picLocks noChangeAspect="1"/>
          </p:cNvPicPr>
          <p:nvPr/>
        </p:nvPicPr>
        <p:blipFill>
          <a:blip r:embed="rId8"/>
          <a:stretch>
            <a:fillRect/>
          </a:stretch>
        </p:blipFill>
        <p:spPr>
          <a:xfrm>
            <a:off x="528523" y="3477463"/>
            <a:ext cx="131674" cy="131674"/>
          </a:xfrm>
          <a:prstGeom prst="rect">
            <a:avLst/>
          </a:prstGeom>
        </p:spPr>
      </p:pic>
      <p:sp>
        <p:nvSpPr>
          <p:cNvPr id="36" name="Text 26"/>
          <p:cNvSpPr txBox="1"/>
          <p:nvPr/>
        </p:nvSpPr>
        <p:spPr>
          <a:xfrm>
            <a:off x="841248" y="3387852"/>
            <a:ext cx="1188720" cy="310896"/>
          </a:xfrm>
          <a:prstGeom prst="rect">
            <a:avLst/>
          </a:prstGeom>
          <a:noFill/>
          <a:ln/>
        </p:spPr>
        <p:txBody>
          <a:bodyPr wrap="square" lIns="0" tIns="0" rIns="0" bIns="0" rtlCol="0" anchor="ctr"/>
          <a:lstStyle/>
          <a:p>
            <a:pPr indent="0" marL="0">
              <a:buNone/>
            </a:pPr>
            <a:r>
              <a:rPr lang="en-US" sz="1100" b="1" dirty="0">
                <a:solidFill>
                  <a:srgbClr val="17202B"/>
                </a:solidFill>
                <a:latin typeface="Segoe UI Semibold" pitchFamily="34" charset="0"/>
                <a:ea typeface="Segoe UI Semibold" pitchFamily="34" charset="-122"/>
                <a:cs typeface="Segoe UI Semibold" pitchFamily="34" charset="-120"/>
              </a:rPr>
              <a:t>Conclude</a:t>
            </a:r>
            <a:endParaRPr lang="en-US" sz="1100" dirty="0"/>
          </a:p>
        </p:txBody>
      </p:sp>
      <p:sp>
        <p:nvSpPr>
          <p:cNvPr id="37" name="Text 27"/>
          <p:cNvSpPr txBox="1"/>
          <p:nvPr/>
        </p:nvSpPr>
        <p:spPr>
          <a:xfrm>
            <a:off x="2057400" y="3387852"/>
            <a:ext cx="3931920" cy="310896"/>
          </a:xfrm>
          <a:prstGeom prst="rect">
            <a:avLst/>
          </a:prstGeom>
          <a:noFill/>
          <a:ln/>
        </p:spPr>
        <p:txBody>
          <a:bodyPr wrap="square" lIns="0" tIns="0" rIns="0" bIns="0" rtlCol="0" anchor="ctr"/>
          <a:lstStyle/>
          <a:p>
            <a:pPr indent="0" marL="0">
              <a:buNone/>
            </a:pPr>
            <a:r>
              <a:rPr lang="en-US" sz="1050" dirty="0">
                <a:solidFill>
                  <a:srgbClr val="6B7785"/>
                </a:solidFill>
                <a:latin typeface="Segoe UI" pitchFamily="34" charset="0"/>
                <a:ea typeface="Segoe UI" pitchFamily="34" charset="-122"/>
                <a:cs typeface="Segoe UI" pitchFamily="34" charset="-120"/>
              </a:rPr>
              <a:t>The price assumes the new guidance is permanent</a:t>
            </a:r>
            <a:endParaRPr lang="en-US" sz="1050" dirty="0"/>
          </a:p>
        </p:txBody>
      </p:sp>
      <p:sp>
        <p:nvSpPr>
          <p:cNvPr id="38" name="Shape 28"/>
          <p:cNvSpPr/>
          <p:nvPr/>
        </p:nvSpPr>
        <p:spPr>
          <a:xfrm>
            <a:off x="6263640" y="1143000"/>
            <a:ext cx="2514600" cy="2514600"/>
          </a:xfrm>
          <a:prstGeom prst="roundRect">
            <a:avLst>
              <a:gd name="adj" fmla="val 2182"/>
            </a:avLst>
          </a:prstGeom>
          <a:solidFill>
            <a:srgbClr val="F4F6F9"/>
          </a:solidFill>
          <a:ln w="12700">
            <a:solidFill>
              <a:srgbClr val="F4F6F9"/>
            </a:solidFill>
            <a:prstDash val="solid"/>
          </a:ln>
        </p:spPr>
      </p:sp>
      <p:sp>
        <p:nvSpPr>
          <p:cNvPr id="39" name="Shape 29"/>
          <p:cNvSpPr/>
          <p:nvPr/>
        </p:nvSpPr>
        <p:spPr>
          <a:xfrm>
            <a:off x="6400800" y="1261872"/>
            <a:ext cx="384048" cy="384048"/>
          </a:xfrm>
          <a:prstGeom prst="ellipse">
            <a:avLst/>
          </a:prstGeom>
          <a:solidFill>
            <a:srgbClr val="F4F6F9"/>
          </a:solidFill>
          <a:ln w="12700">
            <a:solidFill>
              <a:srgbClr val="F4F6F9"/>
            </a:solidFill>
            <a:prstDash val="solid"/>
          </a:ln>
        </p:spPr>
      </p:sp>
      <p:pic>
        <p:nvPicPr>
          <p:cNvPr id="40" name="Image 8" descr="icons/navy_leaf.png">    </p:cNvPr>
          <p:cNvPicPr>
            <a:picLocks noChangeAspect="1"/>
          </p:cNvPicPr>
          <p:nvPr/>
        </p:nvPicPr>
        <p:blipFill>
          <a:blip r:embed="rId9"/>
          <a:stretch>
            <a:fillRect/>
          </a:stretch>
        </p:blipFill>
        <p:spPr>
          <a:xfrm>
            <a:off x="6500652" y="1361724"/>
            <a:ext cx="184343" cy="184343"/>
          </a:xfrm>
          <a:prstGeom prst="rect">
            <a:avLst/>
          </a:prstGeom>
        </p:spPr>
      </p:pic>
      <p:sp>
        <p:nvSpPr>
          <p:cNvPr id="41" name="Text 30"/>
          <p:cNvSpPr txBox="1"/>
          <p:nvPr/>
        </p:nvSpPr>
        <p:spPr>
          <a:xfrm>
            <a:off x="6400800" y="1755648"/>
            <a:ext cx="2286000" cy="1828800"/>
          </a:xfrm>
          <a:prstGeom prst="rect">
            <a:avLst/>
          </a:prstGeom>
          <a:noFill/>
          <a:ln/>
        </p:spPr>
        <p:txBody>
          <a:bodyPr wrap="square" lIns="0" tIns="0" rIns="0" bIns="0" rtlCol="0" anchor="t"/>
          <a:lstStyle/>
          <a:p>
            <a:pPr indent="0" marL="0">
              <a:buNone/>
            </a:pPr>
            <a:r>
              <a:rPr lang="en-US" sz="1000" b="1" dirty="0">
                <a:solidFill>
                  <a:srgbClr val="17202B"/>
                </a:solidFill>
                <a:latin typeface="Segoe UI" pitchFamily="34" charset="0"/>
                <a:ea typeface="Segoe UI" pitchFamily="34" charset="-122"/>
                <a:cs typeface="Segoe UI" pitchFamily="34" charset="-120"/>
              </a:rPr>
              <a:t>ESG, through the same filter</a:t>
            </a:r>
            <a:endParaRPr lang="en-US" sz="1000" dirty="0"/>
          </a:p>
          <a:p>
            <a:pPr indent="0" marL="0">
              <a:buNone/>
            </a:pPr>
            <a:r>
              <a:rPr lang="en-US" sz="1000" dirty="0">
                <a:solidFill>
                  <a:srgbClr val="6B7785"/>
                </a:solidFill>
                <a:latin typeface="Segoe UI" pitchFamily="34" charset="0"/>
                <a:ea typeface="Segoe UI" pitchFamily="34" charset="-122"/>
                <a:cs typeface="Segoe UI" pitchFamily="34" charset="-120"/>
              </a:rPr>
              <a:t>It enters the model only if it moves cash, risk or growth. For Borusan: the EU carbon border tax (CBAM) on European sales, and its first assured TSRS sustainability report, filed in October 2025.</a:t>
            </a:r>
            <a:endParaRPr lang="en-US" sz="1000" dirty="0"/>
          </a:p>
        </p:txBody>
      </p:sp>
      <p:sp>
        <p:nvSpPr>
          <p:cNvPr id="42" name="Text 31"/>
          <p:cNvSpPr txBox="1"/>
          <p:nvPr/>
        </p:nvSpPr>
        <p:spPr>
          <a:xfrm>
            <a:off x="457200" y="3794760"/>
            <a:ext cx="8321040" cy="548640"/>
          </a:xfrm>
          <a:prstGeom prst="rect">
            <a:avLst/>
          </a:prstGeom>
          <a:noFill/>
          <a:ln/>
        </p:spPr>
        <p:txBody>
          <a:bodyPr wrap="square" lIns="0" tIns="0" rIns="0" bIns="0" rtlCol="0" anchor="ctr"/>
          <a:lstStyle/>
          <a:p>
            <a:pPr indent="0" marL="0">
              <a:buNone/>
            </a:pPr>
            <a:r>
              <a:rPr lang="en-US" sz="1500" b="1" dirty="0">
                <a:solidFill>
                  <a:srgbClr val="E8692C"/>
                </a:solidFill>
                <a:latin typeface="Segoe UI Semibold" pitchFamily="34" charset="0"/>
                <a:ea typeface="Segoe UI Semibold" pitchFamily="34" charset="-122"/>
                <a:cs typeface="Segoe UI Semibold" pitchFamily="34" charset="-120"/>
              </a:rPr>
              <a:t>“</a:t>
            </a:r>
            <a:pPr indent="0" marL="0">
              <a:buNone/>
            </a:pPr>
            <a:r>
              <a:rPr lang="en-US" sz="1500" b="1" dirty="0">
                <a:solidFill>
                  <a:srgbClr val="17202B"/>
                </a:solidFill>
                <a:latin typeface="Segoe UI Semibold" pitchFamily="34" charset="0"/>
                <a:ea typeface="Segoe UI Semibold" pitchFamily="34" charset="-122"/>
                <a:cs typeface="Segoe UI Semibold" pitchFamily="34" charset="-120"/>
              </a:rPr>
              <a:t>A great analyst doesn't start with "is it cheap?" She starts with "what must be true?"</a:t>
            </a:r>
            <a:endParaRPr lang="en-US" sz="1500" dirty="0"/>
          </a:p>
        </p:txBody>
      </p:sp>
      <p:sp>
        <p:nvSpPr>
          <p:cNvPr id="43" name="Text 32"/>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Not investment advice; a method exercise. CBAM: Regulation (EU) 2023/956. TSRS report: KAP, 30 Oct 2025.</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APPENDIX · A1</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WACC inputs, line by line</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13</a:t>
            </a:r>
            <a:endParaRPr lang="en-US" sz="900" dirty="0"/>
          </a:p>
        </p:txBody>
      </p:sp>
      <p:sp>
        <p:nvSpPr>
          <p:cNvPr id="5" name="Text 3"/>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321040" cy="914400"/>
        </p:xfrm>
        <a:graphic>
          <a:graphicData uri="http://schemas.openxmlformats.org/drawingml/2006/table">
            <a:tbl>
              <a:tblPr/>
              <a:tblGrid>
                <a:gridCol w="2011680"/>
                <a:gridCol w="1097280"/>
                <a:gridCol w="1188720"/>
                <a:gridCol w="4023360"/>
              </a:tblGrid>
              <a:tr h="274320">
                <a:tc>
                  <a:txBody>
                    <a:bodyPr/>
                    <a:lstStyle/>
                    <a:p>
                      <a:pPr indent="0" marL="0">
                        <a:buNone/>
                      </a:pPr>
                      <a:r>
                        <a:rPr lang="en-US" sz="950" b="1" dirty="0">
                          <a:solidFill>
                            <a:srgbClr val="FFFFFF"/>
                          </a:solidFill>
                          <a:latin typeface="Segoe UI" pitchFamily="34" charset="0"/>
                          <a:ea typeface="Segoe UI" pitchFamily="34" charset="-122"/>
                          <a:cs typeface="Segoe UI" pitchFamily="34" charset="-120"/>
                        </a:rPr>
                        <a:t>Input</a:t>
                      </a:r>
                      <a:endParaRPr lang="en-US" sz="95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17202B"/>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US ops</a:t>
                      </a:r>
                      <a:endParaRPr lang="en-US" sz="95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17202B"/>
                    </a:solidFill>
                  </a:tcPr>
                </a:tc>
                <a:tc>
                  <a:txBody>
                    <a:bodyPr/>
                    <a:lstStyle/>
                    <a:p>
                      <a:pPr algn="ctr" indent="0" marL="0">
                        <a:buNone/>
                      </a:pPr>
                      <a:r>
                        <a:rPr lang="en-US" sz="950" b="1" dirty="0">
                          <a:solidFill>
                            <a:srgbClr val="FFFFFF"/>
                          </a:solidFill>
                          <a:latin typeface="Segoe UI" pitchFamily="34" charset="0"/>
                          <a:ea typeface="Segoe UI" pitchFamily="34" charset="-122"/>
                          <a:cs typeface="Segoe UI" pitchFamily="34" charset="-120"/>
                        </a:rPr>
                        <a:t>Türkiye ops</a:t>
                      </a:r>
                      <a:endParaRPr lang="en-US" sz="95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17202B"/>
                    </a:solidFill>
                  </a:tcPr>
                </a:tc>
                <a:tc>
                  <a:txBody>
                    <a:bodyPr/>
                    <a:lstStyle/>
                    <a:p>
                      <a:pPr indent="0" marL="0">
                        <a:buNone/>
                      </a:pPr>
                      <a:r>
                        <a:rPr lang="en-US" sz="950" b="1" dirty="0">
                          <a:solidFill>
                            <a:srgbClr val="FFFFFF"/>
                          </a:solidFill>
                          <a:latin typeface="Segoe UI" pitchFamily="34" charset="0"/>
                          <a:ea typeface="Segoe UI" pitchFamily="34" charset="-122"/>
                          <a:cs typeface="Segoe UI" pitchFamily="34" charset="-120"/>
                        </a:rPr>
                        <a:t>Source / logic</a:t>
                      </a:r>
                      <a:endParaRPr lang="en-US" sz="95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17202B"/>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Risk-free rate (USD)</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5.19%</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5.19%</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US Treasury 10Y, 30 Sep 2026</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Unlevered beta</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0.94</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0.94</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Damodaran Steel, cash-corrected, Jan 2026</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Relevered beta</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1.00</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0.99</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βu × (1 + (1−t) D/E), D/E = net debt / market cap</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Mature ERP</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4.23%</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4.23%</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Damodaran, Jan 2026</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Country risk premium</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0.23%</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4.66%</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Damodaran Jan 2026: US Aa1, Türkiye Ba3; λ = 1</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Cost of equity</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9.63%</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14.05%</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Rf + β × ERP + CRP</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Pre-tax cost of debt</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7.19%</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10.25%</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Rf + sovereign default spread (3.06% TR) + 2.0%†</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Tax rate</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21%</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25%</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Statutory</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After-tax cost of debt</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5.68%</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7.69%</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Kd × (1 − t)</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Weights E / D</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93.0 / 7.0</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93.0 / 7.0</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Market values; net debt as debt proxy†</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202B"/>
                          </a:solidFill>
                          <a:latin typeface="Segoe UI" pitchFamily="34" charset="0"/>
                          <a:ea typeface="Segoe UI" pitchFamily="34" charset="-122"/>
                          <a:cs typeface="Segoe UI" pitchFamily="34" charset="-120"/>
                        </a:rPr>
                        <a:t>WACC</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9.36%</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202B"/>
                          </a:solidFill>
                          <a:latin typeface="Segoe UI" pitchFamily="34" charset="0"/>
                          <a:ea typeface="Segoe UI" pitchFamily="34" charset="-122"/>
                          <a:cs typeface="Segoe UI" pitchFamily="34" charset="-120"/>
                        </a:rPr>
                        <a:t>13.61%</a:t>
                      </a:r>
                      <a:endParaRPr lang="en-US" sz="9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4A5A6B"/>
                          </a:solidFill>
                          <a:latin typeface="Segoe UI" pitchFamily="34" charset="0"/>
                          <a:ea typeface="Segoe UI" pitchFamily="34" charset="-122"/>
                          <a:cs typeface="Segoe UI" pitchFamily="34" charset="-120"/>
                        </a:rPr>
                        <a:t>We × Ke + Wd × Kd(1−t)</a:t>
                      </a:r>
                      <a:endParaRPr lang="en-US" sz="800" dirty="0">
                        <a:latin typeface="Segoe UI" charset="0"/>
                        <a:ea typeface="Segoe UI" charset="0"/>
                        <a:cs typeface="Segoe UI" charset="0"/>
                      </a:endParaRPr>
                    </a:p>
                  </a:txBody>
                  <a:tcPr marL="91440" marR="91440" marT="45720" marB="45720">
                    <a:lnL w="6350" cap="flat" cmpd="sng" algn="ctr">
                      <a:solidFill>
                        <a:srgbClr val="DCE1E7"/>
                      </a:solidFill>
                      <a:prstDash val="solid"/>
                      <a:round/>
                      <a:headEnd type="none" w="med" len="med"/>
                      <a:tailEnd type="none" w="med" len="med"/>
                    </a:lnL>
                    <a:lnR w="6350" cap="flat" cmpd="sng" algn="ctr">
                      <a:solidFill>
                        <a:srgbClr val="DCE1E7"/>
                      </a:solidFill>
                      <a:prstDash val="solid"/>
                      <a:round/>
                      <a:headEnd type="none" w="med" len="med"/>
                      <a:tailEnd type="none" w="med" len="med"/>
                    </a:lnR>
                    <a:lnT w="6350" cap="flat" cmpd="sng" algn="ctr">
                      <a:solidFill>
                        <a:srgbClr val="DCE1E7"/>
                      </a:solidFill>
                      <a:prstDash val="solid"/>
                      <a:round/>
                      <a:headEnd type="none" w="med" len="med"/>
                      <a:tailEnd type="none" w="med" len="med"/>
                    </a:lnT>
                    <a:lnB w="635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 Analyst assumption. Open question for the jury: λ (how much of country risk BRSAN's Turkish ops really bear) could be &lt; 1 since most sales are in USD.</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APPENDIX · A2</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DCF cross-check and reverse DCF, the math</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14</a:t>
            </a:r>
            <a:endParaRPr lang="en-US" sz="900" dirty="0"/>
          </a:p>
        </p:txBody>
      </p:sp>
      <p:sp>
        <p:nvSpPr>
          <p:cNvPr id="5" name="Text 3"/>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6" name="Shape 4"/>
          <p:cNvSpPr/>
          <p:nvPr/>
        </p:nvSpPr>
        <p:spPr>
          <a:xfrm>
            <a:off x="457200" y="1188720"/>
            <a:ext cx="4069080" cy="3246120"/>
          </a:xfrm>
          <a:prstGeom prst="roundRect">
            <a:avLst>
              <a:gd name="adj" fmla="val 1690"/>
            </a:avLst>
          </a:prstGeom>
          <a:solidFill>
            <a:srgbClr val="F4F6F9"/>
          </a:solidFill>
          <a:ln w="12700">
            <a:solidFill>
              <a:srgbClr val="F4F6F9"/>
            </a:solidFill>
            <a:prstDash val="solid"/>
          </a:ln>
        </p:spPr>
      </p:sp>
      <p:sp>
        <p:nvSpPr>
          <p:cNvPr id="7" name="Text 5"/>
          <p:cNvSpPr txBox="1"/>
          <p:nvPr/>
        </p:nvSpPr>
        <p:spPr>
          <a:xfrm>
            <a:off x="594360" y="1280160"/>
            <a:ext cx="3840480" cy="3063240"/>
          </a:xfrm>
          <a:prstGeom prst="rect">
            <a:avLst/>
          </a:prstGeom>
          <a:noFill/>
          <a:ln/>
        </p:spPr>
        <p:txBody>
          <a:bodyPr wrap="square" lIns="0" tIns="0" rIns="0" bIns="0" rtlCol="0" anchor="t"/>
          <a:lstStyle/>
          <a:p>
            <a:pPr indent="0" marL="0">
              <a:spcAft>
                <a:spcPts val="600"/>
              </a:spcAft>
              <a:buNone/>
            </a:pPr>
            <a:r>
              <a:rPr lang="en-US" sz="1300" b="1" dirty="0">
                <a:solidFill>
                  <a:srgbClr val="17202B"/>
                </a:solidFill>
                <a:latin typeface="Segoe UI Semibold" pitchFamily="34" charset="0"/>
                <a:ea typeface="Segoe UI Semibold" pitchFamily="34" charset="-122"/>
                <a:cs typeface="Segoe UI Semibold" pitchFamily="34" charset="-120"/>
              </a:rPr>
              <a:t>Forward (our view)</a:t>
            </a:r>
            <a:endParaRPr lang="en-US" sz="1050" dirty="0"/>
          </a:p>
          <a:p>
            <a:pPr indent="0" marL="0">
              <a:spcAft>
                <a:spcPts val="600"/>
              </a:spcAft>
              <a:buNone/>
            </a:pPr>
            <a:r>
              <a:rPr lang="en-US" sz="1050" dirty="0">
                <a:solidFill>
                  <a:srgbClr val="4A5A6B"/>
                </a:solidFill>
                <a:latin typeface="Segoe UI" pitchFamily="34" charset="0"/>
                <a:ea typeface="Segoe UI" pitchFamily="34" charset="-122"/>
                <a:cs typeface="Segoe UI" pitchFamily="34" charset="-120"/>
              </a:rPr>
              <a:t>EBITDA 2026G = 2,300 × 10% = $230m</a:t>
            </a:r>
            <a:endParaRPr lang="en-US" sz="1050" dirty="0"/>
          </a:p>
          <a:p>
            <a:pPr indent="0" marL="0">
              <a:spcAft>
                <a:spcPts val="600"/>
              </a:spcAft>
              <a:buNone/>
            </a:pPr>
            <a:r>
              <a:rPr lang="en-US" sz="1050" dirty="0">
                <a:solidFill>
                  <a:srgbClr val="4A5A6B"/>
                </a:solidFill>
                <a:latin typeface="Segoe UI" pitchFamily="34" charset="0"/>
                <a:ea typeface="Segoe UI" pitchFamily="34" charset="-122"/>
                <a:cs typeface="Segoe UI" pitchFamily="34" charset="-120"/>
              </a:rPr>
              <a:t>FCFF = 230 × 50%† = $115m</a:t>
            </a:r>
            <a:endParaRPr lang="en-US" sz="1050" dirty="0"/>
          </a:p>
          <a:p>
            <a:pPr indent="0" marL="0">
              <a:spcAft>
                <a:spcPts val="600"/>
              </a:spcAft>
              <a:buNone/>
            </a:pPr>
            <a:r>
              <a:rPr lang="en-US" sz="1050" dirty="0">
                <a:solidFill>
                  <a:srgbClr val="4A5A6B"/>
                </a:solidFill>
                <a:latin typeface="Segoe UI" pitchFamily="34" charset="0"/>
                <a:ea typeface="Segoe UI" pitchFamily="34" charset="-122"/>
                <a:cs typeface="Segoe UI" pitchFamily="34" charset="-120"/>
              </a:rPr>
              <a:t>EV(US) = 90.8 × 1.025 / (9.36% − 2.5%) = $1,358m</a:t>
            </a:r>
            <a:endParaRPr lang="en-US" sz="1050" dirty="0"/>
          </a:p>
          <a:p>
            <a:pPr indent="0" marL="0">
              <a:spcAft>
                <a:spcPts val="600"/>
              </a:spcAft>
              <a:buNone/>
            </a:pPr>
            <a:r>
              <a:rPr lang="en-US" sz="1050" dirty="0">
                <a:solidFill>
                  <a:srgbClr val="4A5A6B"/>
                </a:solidFill>
                <a:latin typeface="Segoe UI" pitchFamily="34" charset="0"/>
                <a:ea typeface="Segoe UI" pitchFamily="34" charset="-122"/>
                <a:cs typeface="Segoe UI" pitchFamily="34" charset="-120"/>
              </a:rPr>
              <a:t>EV(TR) = 24.1 × 1.025 / (13.61% − 2.5%) = $223m</a:t>
            </a:r>
            <a:endParaRPr lang="en-US" sz="1050" dirty="0"/>
          </a:p>
          <a:p>
            <a:pPr indent="0" marL="0">
              <a:spcAft>
                <a:spcPts val="600"/>
              </a:spcAft>
              <a:buNone/>
            </a:pPr>
            <a:r>
              <a:rPr lang="en-US" sz="1050" dirty="0">
                <a:solidFill>
                  <a:srgbClr val="4A5A6B"/>
                </a:solidFill>
                <a:latin typeface="Segoe UI" pitchFamily="34" charset="0"/>
                <a:ea typeface="Segoe UI" pitchFamily="34" charset="-122"/>
                <a:cs typeface="Segoe UI" pitchFamily="34" charset="-120"/>
              </a:rPr>
              <a:t>Equity = 1,358 + 223 − 144 = $1,437m</a:t>
            </a:r>
            <a:endParaRPr lang="en-US" sz="1050" dirty="0"/>
          </a:p>
        </p:txBody>
      </p:sp>
      <p:sp>
        <p:nvSpPr>
          <p:cNvPr id="8" name="Shape 6"/>
          <p:cNvSpPr/>
          <p:nvPr/>
        </p:nvSpPr>
        <p:spPr>
          <a:xfrm>
            <a:off x="4709160" y="1188720"/>
            <a:ext cx="4069080" cy="3246120"/>
          </a:xfrm>
          <a:prstGeom prst="roundRect">
            <a:avLst>
              <a:gd name="adj" fmla="val 1690"/>
            </a:avLst>
          </a:prstGeom>
          <a:solidFill>
            <a:srgbClr val="FBEFE8"/>
          </a:solidFill>
          <a:ln w="12700">
            <a:solidFill>
              <a:srgbClr val="FBEFE8"/>
            </a:solidFill>
            <a:prstDash val="solid"/>
          </a:ln>
        </p:spPr>
      </p:sp>
      <p:sp>
        <p:nvSpPr>
          <p:cNvPr id="9" name="Text 7"/>
          <p:cNvSpPr txBox="1"/>
          <p:nvPr/>
        </p:nvSpPr>
        <p:spPr>
          <a:xfrm>
            <a:off x="4846320" y="1280160"/>
            <a:ext cx="3840480" cy="3063240"/>
          </a:xfrm>
          <a:prstGeom prst="rect">
            <a:avLst/>
          </a:prstGeom>
          <a:noFill/>
          <a:ln/>
        </p:spPr>
        <p:txBody>
          <a:bodyPr wrap="square" lIns="0" tIns="0" rIns="0" bIns="0" rtlCol="0" anchor="t"/>
          <a:lstStyle/>
          <a:p>
            <a:pPr indent="0" marL="0">
              <a:spcAft>
                <a:spcPts val="600"/>
              </a:spcAft>
              <a:buNone/>
            </a:pPr>
            <a:r>
              <a:rPr lang="en-US" sz="1300" b="1" dirty="0">
                <a:solidFill>
                  <a:srgbClr val="E8692C"/>
                </a:solidFill>
                <a:latin typeface="Segoe UI Semibold" pitchFamily="34" charset="0"/>
                <a:ea typeface="Segoe UI Semibold" pitchFamily="34" charset="-122"/>
                <a:cs typeface="Segoe UI Semibold" pitchFamily="34" charset="-120"/>
              </a:rPr>
              <a:t>Reverse (market's view)</a:t>
            </a:r>
            <a:endParaRPr lang="en-US" sz="1050" dirty="0"/>
          </a:p>
          <a:p>
            <a:pPr indent="0" marL="0">
              <a:spcAft>
                <a:spcPts val="600"/>
              </a:spcAft>
              <a:buNone/>
            </a:pPr>
            <a:r>
              <a:rPr lang="en-US" sz="1050" dirty="0">
                <a:solidFill>
                  <a:srgbClr val="17202B"/>
                </a:solidFill>
                <a:latin typeface="Segoe UI" pitchFamily="34" charset="0"/>
                <a:ea typeface="Segoe UI" pitchFamily="34" charset="-122"/>
                <a:cs typeface="Segoe UI" pitchFamily="34" charset="-120"/>
              </a:rPr>
              <a:t>EV = 1,918 + 144 = $2,062m</a:t>
            </a:r>
            <a:endParaRPr lang="en-US" sz="1050" dirty="0"/>
          </a:p>
          <a:p>
            <a:pPr indent="0" marL="0">
              <a:spcAft>
                <a:spcPts val="600"/>
              </a:spcAft>
              <a:buNone/>
            </a:pPr>
            <a:r>
              <a:rPr lang="en-US" sz="1050" dirty="0">
                <a:solidFill>
                  <a:srgbClr val="17202B"/>
                </a:solidFill>
                <a:latin typeface="Segoe UI" pitchFamily="34" charset="0"/>
                <a:ea typeface="Segoe UI" pitchFamily="34" charset="-122"/>
                <a:cs typeface="Segoe UI" pitchFamily="34" charset="-120"/>
              </a:rPr>
              <a:t>Blended WACC = 79% × 9.36 + 21% × 13.61 = 10.25%</a:t>
            </a:r>
            <a:endParaRPr lang="en-US" sz="1050" dirty="0"/>
          </a:p>
          <a:p>
            <a:pPr indent="0" marL="0">
              <a:spcAft>
                <a:spcPts val="600"/>
              </a:spcAft>
              <a:buNone/>
            </a:pPr>
            <a:r>
              <a:rPr lang="en-US" sz="1050" dirty="0">
                <a:solidFill>
                  <a:srgbClr val="17202B"/>
                </a:solidFill>
                <a:latin typeface="Segoe UI" pitchFamily="34" charset="0"/>
                <a:ea typeface="Segoe UI" pitchFamily="34" charset="-122"/>
                <a:cs typeface="Segoe UI" pitchFamily="34" charset="-120"/>
              </a:rPr>
              <a:t>Implied FCFF at g 2.5% = EV × (WACC − g)/(1+g) = $156m</a:t>
            </a:r>
            <a:endParaRPr lang="en-US" sz="1050" dirty="0"/>
          </a:p>
          <a:p>
            <a:pPr indent="0" marL="0">
              <a:spcAft>
                <a:spcPts val="600"/>
              </a:spcAft>
              <a:buNone/>
            </a:pPr>
            <a:r>
              <a:rPr lang="en-US" sz="1050" dirty="0">
                <a:solidFill>
                  <a:srgbClr val="17202B"/>
                </a:solidFill>
                <a:latin typeface="Segoe UI" pitchFamily="34" charset="0"/>
                <a:ea typeface="Segoe UI" pitchFamily="34" charset="-122"/>
                <a:cs typeface="Segoe UI" pitchFamily="34" charset="-120"/>
              </a:rPr>
              <a:t>Implied g at our FCFF = (EV × WACC − FCFF)/(EV + FCFF) = 4.42%</a:t>
            </a:r>
            <a:endParaRPr lang="en-US" sz="1050" dirty="0"/>
          </a:p>
          <a:p>
            <a:pPr indent="0" marL="0">
              <a:spcAft>
                <a:spcPts val="600"/>
              </a:spcAft>
              <a:buNone/>
            </a:pPr>
            <a:r>
              <a:rPr lang="en-US" sz="1050" i="1" dirty="0">
                <a:solidFill>
                  <a:srgbClr val="17202B"/>
                </a:solidFill>
                <a:latin typeface="Segoe UI" pitchFamily="34" charset="0"/>
                <a:ea typeface="Segoe UI" pitchFamily="34" charset="-122"/>
                <a:cs typeface="Segoe UI" pitchFamily="34" charset="-120"/>
              </a:rPr>
              <a:t>Check: g must stay below Rf (5.19%) or the model breaks.</a:t>
            </a:r>
            <a:endParaRPr lang="en-US" sz="1050" dirty="0"/>
          </a:p>
        </p:txBody>
      </p:sp>
      <p:sp>
        <p:nvSpPr>
          <p:cNvPr id="10" name="Text 8"/>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Formulas from utils/valuation.py (ev_from_fcff, implied_steady_fcff). Single-stage Gordon model: a simplification; a three stage DCF with the 2027 and 2028 order book is the next build. † analyst assumption.</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566160" cy="228600"/>
          </a:xfrm>
          <a:prstGeom prst="rect">
            <a:avLst/>
          </a:prstGeom>
          <a:noFill/>
          <a:ln/>
        </p:spPr>
        <p:txBody>
          <a:bodyPr wrap="square" lIns="0" tIns="0" rIns="0" bIns="0" rtlCol="0" anchor="ctr"/>
          <a:lstStyle/>
          <a:p>
            <a:pPr indent="0" marL="0">
              <a:buNone/>
            </a:pPr>
            <a:r>
              <a:rPr lang="en-US" sz="1000" b="1" spc="300" kern="0" dirty="0">
                <a:solidFill>
                  <a:srgbClr val="E8692C"/>
                </a:solidFill>
                <a:latin typeface="Segoe UI" pitchFamily="34" charset="0"/>
                <a:ea typeface="Segoe UI" pitchFamily="34" charset="-122"/>
                <a:cs typeface="Segoe UI" pitchFamily="34" charset="-120"/>
              </a:rPr>
              <a:t>APPENDIX · A3</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400" b="1" dirty="0">
                <a:solidFill>
                  <a:srgbClr val="17202B"/>
                </a:solidFill>
                <a:latin typeface="Segoe UI Semibold" pitchFamily="34" charset="0"/>
                <a:ea typeface="Segoe UI Semibold" pitchFamily="34" charset="-122"/>
                <a:cs typeface="Segoe UI Semibold" pitchFamily="34" charset="-120"/>
              </a:rPr>
              <a:t>Ten questions I expect, and short answers</a:t>
            </a:r>
            <a:endParaRPr lang="en-US" sz="24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7A8794"/>
                </a:solidFill>
                <a:latin typeface="Segoe UI" pitchFamily="34" charset="0"/>
                <a:ea typeface="Segoe UI" pitchFamily="34" charset="-122"/>
                <a:cs typeface="Segoe UI" pitchFamily="34" charset="-120"/>
              </a:rPr>
              <a:t>15</a:t>
            </a:r>
            <a:endParaRPr lang="en-US" sz="900" dirty="0"/>
          </a:p>
        </p:txBody>
      </p:sp>
      <p:sp>
        <p:nvSpPr>
          <p:cNvPr id="5" name="Text 3"/>
          <p:cNvSpPr txBox="1"/>
          <p:nvPr/>
        </p:nvSpPr>
        <p:spPr>
          <a:xfrm>
            <a:off x="457200" y="4846320"/>
            <a:ext cx="6858000" cy="182880"/>
          </a:xfrm>
          <a:prstGeom prst="rect">
            <a:avLst/>
          </a:prstGeom>
          <a:noFill/>
          <a:ln/>
        </p:spPr>
        <p:txBody>
          <a:bodyPr wrap="square" lIns="0" tIns="0" rIns="0" bIns="0" rtlCol="0" anchor="ctr"/>
          <a:lstStyle/>
          <a:p>
            <a:pPr indent="0" marL="0">
              <a:buNone/>
            </a:pPr>
            <a:r>
              <a:rPr lang="en-US" sz="750" dirty="0">
                <a:solidFill>
                  <a:srgbClr val="B7BFC9"/>
                </a:solidFill>
                <a:latin typeface="Segoe UI" pitchFamily="34" charset="0"/>
                <a:ea typeface="Segoe UI" pitchFamily="34" charset="-122"/>
                <a:cs typeface="Segoe UI" pitchFamily="34" charset="-120"/>
              </a:rPr>
              <a:t>How to Value a Company  ·  Borusan Boru (BIST: BRSAN)  ·  CFA Research Challenge method session</a:t>
            </a:r>
            <a:endParaRPr lang="en-US" sz="750" dirty="0"/>
          </a:p>
        </p:txBody>
      </p:sp>
      <p:sp>
        <p:nvSpPr>
          <p:cNvPr id="6" name="Shape 4"/>
          <p:cNvSpPr/>
          <p:nvPr/>
        </p:nvSpPr>
        <p:spPr>
          <a:xfrm>
            <a:off x="457200" y="1143000"/>
            <a:ext cx="4069080" cy="621792"/>
          </a:xfrm>
          <a:prstGeom prst="roundRect">
            <a:avLst>
              <a:gd name="adj" fmla="val 8824"/>
            </a:avLst>
          </a:prstGeom>
          <a:solidFill>
            <a:srgbClr val="F4F6F9"/>
          </a:solidFill>
          <a:ln w="12700">
            <a:solidFill>
              <a:srgbClr val="F4F6F9"/>
            </a:solidFill>
            <a:prstDash val="solid"/>
          </a:ln>
        </p:spPr>
      </p:sp>
      <p:sp>
        <p:nvSpPr>
          <p:cNvPr id="7" name="Text 5"/>
          <p:cNvSpPr txBox="1"/>
          <p:nvPr/>
        </p:nvSpPr>
        <p:spPr>
          <a:xfrm>
            <a:off x="566928" y="1170432"/>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Why not one WACC?</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Risk sits in different places; one rate under-values the US and over-values Türkiye.</a:t>
            </a:r>
            <a:endParaRPr lang="en-US" sz="900" dirty="0"/>
          </a:p>
        </p:txBody>
      </p:sp>
      <p:sp>
        <p:nvSpPr>
          <p:cNvPr id="8" name="Shape 6"/>
          <p:cNvSpPr/>
          <p:nvPr/>
        </p:nvSpPr>
        <p:spPr>
          <a:xfrm>
            <a:off x="4663440" y="1143000"/>
            <a:ext cx="4069080" cy="621792"/>
          </a:xfrm>
          <a:prstGeom prst="roundRect">
            <a:avLst>
              <a:gd name="adj" fmla="val 8824"/>
            </a:avLst>
          </a:prstGeom>
          <a:solidFill>
            <a:srgbClr val="F4F6F9"/>
          </a:solidFill>
          <a:ln w="12700">
            <a:solidFill>
              <a:srgbClr val="F4F6F9"/>
            </a:solidFill>
            <a:prstDash val="solid"/>
          </a:ln>
        </p:spPr>
      </p:sp>
      <p:sp>
        <p:nvSpPr>
          <p:cNvPr id="9" name="Text 7"/>
          <p:cNvSpPr txBox="1"/>
          <p:nvPr/>
        </p:nvSpPr>
        <p:spPr>
          <a:xfrm>
            <a:off x="4773168" y="1170432"/>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Why USD, not TL?</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BRSAN reports and earns in USD; TL would need 30%+ inflation forecasts.</a:t>
            </a:r>
            <a:endParaRPr lang="en-US" sz="900" dirty="0"/>
          </a:p>
        </p:txBody>
      </p:sp>
      <p:sp>
        <p:nvSpPr>
          <p:cNvPr id="10" name="Shape 8"/>
          <p:cNvSpPr/>
          <p:nvPr/>
        </p:nvSpPr>
        <p:spPr>
          <a:xfrm>
            <a:off x="457200" y="1847088"/>
            <a:ext cx="4069080" cy="621792"/>
          </a:xfrm>
          <a:prstGeom prst="roundRect">
            <a:avLst>
              <a:gd name="adj" fmla="val 8824"/>
            </a:avLst>
          </a:prstGeom>
          <a:solidFill>
            <a:srgbClr val="F4F6F9"/>
          </a:solidFill>
          <a:ln w="12700">
            <a:solidFill>
              <a:srgbClr val="F4F6F9"/>
            </a:solidFill>
            <a:prstDash val="solid"/>
          </a:ln>
        </p:spPr>
      </p:sp>
      <p:sp>
        <p:nvSpPr>
          <p:cNvPr id="11" name="Text 9"/>
          <p:cNvSpPr txBox="1"/>
          <p:nvPr/>
        </p:nvSpPr>
        <p:spPr>
          <a:xfrm>
            <a:off x="566928" y="1874520"/>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Why add full CRP to TR ops?</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Conservative λ = 1; USD sales argue for λ &lt; 1, which would raise value.</a:t>
            </a:r>
            <a:endParaRPr lang="en-US" sz="900" dirty="0"/>
          </a:p>
        </p:txBody>
      </p:sp>
      <p:sp>
        <p:nvSpPr>
          <p:cNvPr id="12" name="Shape 10"/>
          <p:cNvSpPr/>
          <p:nvPr/>
        </p:nvSpPr>
        <p:spPr>
          <a:xfrm>
            <a:off x="4663440" y="1847088"/>
            <a:ext cx="4069080" cy="621792"/>
          </a:xfrm>
          <a:prstGeom prst="roundRect">
            <a:avLst>
              <a:gd name="adj" fmla="val 8824"/>
            </a:avLst>
          </a:prstGeom>
          <a:solidFill>
            <a:srgbClr val="F4F6F9"/>
          </a:solidFill>
          <a:ln w="12700">
            <a:solidFill>
              <a:srgbClr val="F4F6F9"/>
            </a:solidFill>
            <a:prstDash val="solid"/>
          </a:ln>
        </p:spPr>
      </p:sp>
      <p:sp>
        <p:nvSpPr>
          <p:cNvPr id="13" name="Text 11"/>
          <p:cNvSpPr txBox="1"/>
          <p:nvPr/>
        </p:nvSpPr>
        <p:spPr>
          <a:xfrm>
            <a:off x="4773168" y="1874520"/>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Revenue share = ops share?</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No. Gemlik exports to the US; KAP segment note is my next step.</a:t>
            </a:r>
            <a:endParaRPr lang="en-US" sz="900" dirty="0"/>
          </a:p>
        </p:txBody>
      </p:sp>
      <p:sp>
        <p:nvSpPr>
          <p:cNvPr id="14" name="Shape 12"/>
          <p:cNvSpPr/>
          <p:nvPr/>
        </p:nvSpPr>
        <p:spPr>
          <a:xfrm>
            <a:off x="457200" y="2551176"/>
            <a:ext cx="4069080" cy="621792"/>
          </a:xfrm>
          <a:prstGeom prst="roundRect">
            <a:avLst>
              <a:gd name="adj" fmla="val 8824"/>
            </a:avLst>
          </a:prstGeom>
          <a:solidFill>
            <a:srgbClr val="F4F6F9"/>
          </a:solidFill>
          <a:ln w="12700">
            <a:solidFill>
              <a:srgbClr val="F4F6F9"/>
            </a:solidFill>
            <a:prstDash val="solid"/>
          </a:ln>
        </p:spPr>
      </p:sp>
      <p:sp>
        <p:nvSpPr>
          <p:cNvPr id="15" name="Text 13"/>
          <p:cNvSpPr txBox="1"/>
          <p:nvPr/>
        </p:nvSpPr>
        <p:spPr>
          <a:xfrm>
            <a:off x="566928" y="2578608"/>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Why 50% cash conversion?</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Assumption after tax and capex; reverse DCF shows the market needs about 68%.</a:t>
            </a:r>
            <a:endParaRPr lang="en-US" sz="900" dirty="0"/>
          </a:p>
        </p:txBody>
      </p:sp>
      <p:sp>
        <p:nvSpPr>
          <p:cNvPr id="16" name="Shape 14"/>
          <p:cNvSpPr/>
          <p:nvPr/>
        </p:nvSpPr>
        <p:spPr>
          <a:xfrm>
            <a:off x="4663440" y="2551176"/>
            <a:ext cx="4069080" cy="621792"/>
          </a:xfrm>
          <a:prstGeom prst="roundRect">
            <a:avLst>
              <a:gd name="adj" fmla="val 8824"/>
            </a:avLst>
          </a:prstGeom>
          <a:solidFill>
            <a:srgbClr val="F4F6F9"/>
          </a:solidFill>
          <a:ln w="12700">
            <a:solidFill>
              <a:srgbClr val="F4F6F9"/>
            </a:solidFill>
            <a:prstDash val="solid"/>
          </a:ln>
        </p:spPr>
      </p:sp>
      <p:sp>
        <p:nvSpPr>
          <p:cNvPr id="17" name="Text 15"/>
          <p:cNvSpPr txBox="1"/>
          <p:nvPr/>
        </p:nvSpPr>
        <p:spPr>
          <a:xfrm>
            <a:off x="4773168" y="2578608"/>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Why not P/E?</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IAS 29 and tax distort net profit; P/E 34x vs ~9x EV/2026 EBITDA.</a:t>
            </a:r>
            <a:endParaRPr lang="en-US" sz="900" dirty="0"/>
          </a:p>
        </p:txBody>
      </p:sp>
      <p:sp>
        <p:nvSpPr>
          <p:cNvPr id="18" name="Shape 16"/>
          <p:cNvSpPr/>
          <p:nvPr/>
        </p:nvSpPr>
        <p:spPr>
          <a:xfrm>
            <a:off x="457200" y="3255264"/>
            <a:ext cx="4069080" cy="621792"/>
          </a:xfrm>
          <a:prstGeom prst="roundRect">
            <a:avLst>
              <a:gd name="adj" fmla="val 8824"/>
            </a:avLst>
          </a:prstGeom>
          <a:solidFill>
            <a:srgbClr val="F4F6F9"/>
          </a:solidFill>
          <a:ln w="12700">
            <a:solidFill>
              <a:srgbClr val="F4F6F9"/>
            </a:solidFill>
            <a:prstDash val="solid"/>
          </a:ln>
        </p:spPr>
      </p:sp>
      <p:sp>
        <p:nvSpPr>
          <p:cNvPr id="19" name="Text 17"/>
          <p:cNvSpPr txBox="1"/>
          <p:nvPr/>
        </p:nvSpPr>
        <p:spPr>
          <a:xfrm>
            <a:off x="566928" y="3282696"/>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How do you forecast margins?</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In scenarios: 6% in 2024 to the 9 to 11% guidance; the order book supports volume, not margin.</a:t>
            </a:r>
            <a:endParaRPr lang="en-US" sz="900" dirty="0"/>
          </a:p>
        </p:txBody>
      </p:sp>
      <p:sp>
        <p:nvSpPr>
          <p:cNvPr id="20" name="Shape 18"/>
          <p:cNvSpPr/>
          <p:nvPr/>
        </p:nvSpPr>
        <p:spPr>
          <a:xfrm>
            <a:off x="4663440" y="3255264"/>
            <a:ext cx="4069080" cy="621792"/>
          </a:xfrm>
          <a:prstGeom prst="roundRect">
            <a:avLst>
              <a:gd name="adj" fmla="val 8824"/>
            </a:avLst>
          </a:prstGeom>
          <a:solidFill>
            <a:srgbClr val="F4F6F9"/>
          </a:solidFill>
          <a:ln w="12700">
            <a:solidFill>
              <a:srgbClr val="F4F6F9"/>
            </a:solidFill>
            <a:prstDash val="solid"/>
          </a:ln>
        </p:spPr>
      </p:sp>
      <p:sp>
        <p:nvSpPr>
          <p:cNvPr id="21" name="Text 19"/>
          <p:cNvSpPr txBox="1"/>
          <p:nvPr/>
        </p:nvSpPr>
        <p:spPr>
          <a:xfrm>
            <a:off x="4773168" y="3282696"/>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Is g = 2.5% safe?</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Below the USD risk free rate of 5.19%. Each 0.5 point moves equity by about $120m.</a:t>
            </a:r>
            <a:endParaRPr lang="en-US" sz="900" dirty="0"/>
          </a:p>
        </p:txBody>
      </p:sp>
      <p:sp>
        <p:nvSpPr>
          <p:cNvPr id="22" name="Shape 20"/>
          <p:cNvSpPr/>
          <p:nvPr/>
        </p:nvSpPr>
        <p:spPr>
          <a:xfrm>
            <a:off x="457200" y="3959352"/>
            <a:ext cx="4069080" cy="621792"/>
          </a:xfrm>
          <a:prstGeom prst="roundRect">
            <a:avLst>
              <a:gd name="adj" fmla="val 8824"/>
            </a:avLst>
          </a:prstGeom>
          <a:solidFill>
            <a:srgbClr val="F4F6F9"/>
          </a:solidFill>
          <a:ln w="12700">
            <a:solidFill>
              <a:srgbClr val="F4F6F9"/>
            </a:solidFill>
            <a:prstDash val="solid"/>
          </a:ln>
        </p:spPr>
      </p:sp>
      <p:sp>
        <p:nvSpPr>
          <p:cNvPr id="23" name="Text 21"/>
          <p:cNvSpPr txBox="1"/>
          <p:nvPr/>
        </p:nvSpPr>
        <p:spPr>
          <a:xfrm>
            <a:off x="566928" y="3986784"/>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How does CBAM hit you?</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Through EU sales (~15%†) and Scope 3 coil; small vs US exposure.</a:t>
            </a:r>
            <a:endParaRPr lang="en-US" sz="900" dirty="0"/>
          </a:p>
        </p:txBody>
      </p:sp>
      <p:sp>
        <p:nvSpPr>
          <p:cNvPr id="24" name="Shape 22"/>
          <p:cNvSpPr/>
          <p:nvPr/>
        </p:nvSpPr>
        <p:spPr>
          <a:xfrm>
            <a:off x="4663440" y="3959352"/>
            <a:ext cx="4069080" cy="621792"/>
          </a:xfrm>
          <a:prstGeom prst="roundRect">
            <a:avLst>
              <a:gd name="adj" fmla="val 8824"/>
            </a:avLst>
          </a:prstGeom>
          <a:solidFill>
            <a:srgbClr val="F4F6F9"/>
          </a:solidFill>
          <a:ln w="12700">
            <a:solidFill>
              <a:srgbClr val="F4F6F9"/>
            </a:solidFill>
            <a:prstDash val="solid"/>
          </a:ln>
        </p:spPr>
      </p:sp>
      <p:sp>
        <p:nvSpPr>
          <p:cNvPr id="25" name="Text 23"/>
          <p:cNvSpPr txBox="1"/>
          <p:nvPr/>
        </p:nvSpPr>
        <p:spPr>
          <a:xfrm>
            <a:off x="4773168" y="3986784"/>
            <a:ext cx="3840480" cy="566928"/>
          </a:xfrm>
          <a:prstGeom prst="rect">
            <a:avLst/>
          </a:prstGeom>
          <a:noFill/>
          <a:ln/>
        </p:spPr>
        <p:txBody>
          <a:bodyPr wrap="square" lIns="0" tIns="0" rIns="0" bIns="0" rtlCol="0" anchor="ctr"/>
          <a:lstStyle/>
          <a:p>
            <a:pPr indent="0" marL="0">
              <a:buNone/>
            </a:pPr>
            <a:r>
              <a:rPr lang="en-US" sz="900" b="1" dirty="0">
                <a:solidFill>
                  <a:srgbClr val="17202B"/>
                </a:solidFill>
                <a:latin typeface="Segoe UI" pitchFamily="34" charset="0"/>
                <a:ea typeface="Segoe UI" pitchFamily="34" charset="-122"/>
                <a:cs typeface="Segoe UI" pitchFamily="34" charset="-120"/>
              </a:rPr>
              <a:t>Biggest risk?</a:t>
            </a:r>
            <a:endParaRPr lang="en-US" sz="900" dirty="0"/>
          </a:p>
          <a:p>
            <a:pPr indent="0" marL="0">
              <a:buNone/>
            </a:pPr>
            <a:r>
              <a:rPr lang="en-US" sz="900" dirty="0">
                <a:solidFill>
                  <a:srgbClr val="4A5A6B"/>
                </a:solidFill>
                <a:latin typeface="Segoe UI" pitchFamily="34" charset="0"/>
                <a:ea typeface="Segoe UI" pitchFamily="34" charset="-122"/>
                <a:cs typeface="Segoe UI" pitchFamily="34" charset="-120"/>
              </a:rPr>
              <a:t>Margin falling back to 6 or 7%; watch 3Q26 in November.</a:t>
            </a:r>
            <a:endParaRPr lang="en-US" sz="900" dirty="0"/>
          </a:p>
        </p:txBody>
      </p:sp>
      <p:sp>
        <p:nvSpPr>
          <p:cNvPr id="26" name="Text 24"/>
          <p:cNvSpPr txBox="1"/>
          <p:nvPr/>
        </p:nvSpPr>
        <p:spPr>
          <a:xfrm>
            <a:off x="457200" y="4462272"/>
            <a:ext cx="7863840" cy="329184"/>
          </a:xfrm>
          <a:prstGeom prst="rect">
            <a:avLst/>
          </a:prstGeom>
          <a:noFill/>
          <a:ln/>
        </p:spPr>
        <p:txBody>
          <a:bodyPr wrap="square" lIns="0" tIns="0" rIns="0" bIns="0" rtlCol="0" anchor="b"/>
          <a:lstStyle/>
          <a:p>
            <a:pPr indent="0" marL="0">
              <a:buNone/>
            </a:pPr>
            <a:r>
              <a:rPr lang="en-US" sz="700" dirty="0">
                <a:solidFill>
                  <a:srgbClr val="6B7785"/>
                </a:solidFill>
                <a:latin typeface="Segoe UI" pitchFamily="34" charset="0"/>
                <a:ea typeface="Segoe UI" pitchFamily="34" charset="-122"/>
                <a:cs typeface="Segoe UI" pitchFamily="34" charset="-120"/>
              </a:rPr>
              <a:t>Longer answers, in Turkish and English: konusma_rehberi.md.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Value a Company</dc:title>
  <dc:subject>PptxGenJS Presentation</dc:subject>
  <dc:creator>PptxGenJS</dc:creator>
  <cp:lastModifiedBy>PptxGenJS</cp:lastModifiedBy>
  <cp:revision>1</cp:revision>
  <dcterms:created xsi:type="dcterms:W3CDTF">2026-10-03T21:27:25Z</dcterms:created>
  <dcterms:modified xsi:type="dcterms:W3CDTF">2026-10-03T21:27:25Z</dcterms:modified>
</cp:coreProperties>
</file>